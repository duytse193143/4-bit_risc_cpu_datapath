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charts/chart2.xml" ContentType="application/vnd.openxmlformats-officedocument.drawingml.chart+xml"/>
  <Override PartName="/ppt/notesSlides/notesSlide9.xml" ContentType="application/vnd.openxmlformats-officedocument.presentationml.notesSlide+xml"/>
  <Override PartName="/ppt/charts/chart3.xml" ContentType="application/vnd.openxmlformats-officedocument.drawingml.chart+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70A7AE5A-E542-9FB1-FE7F-E43D05D9DC24}">
          <p14:sldIdLst>
            <p14:sldId id="256"/>
            <p14:sldId id="257"/>
          </p14:sldIdLst>
        </p14:section>
        <p14:section name="RTL Architecture" id="{ED4C0716-8744-590C-C998-B498396222D6}">
          <p14:sldIdLst>
            <p14:sldId id="258"/>
            <p14:sldId id="259"/>
            <p14:sldId id="260"/>
          </p14:sldIdLst>
        </p14:section>
        <p14:section name="Simulation" id="{41C21511-3AF1-D99E-9932-472661CCAE5A}">
          <p14:sldIdLst>
            <p14:sldId id="261"/>
            <p14:sldId id="262"/>
            <p14:sldId id="263"/>
          </p14:sldIdLst>
        </p14:section>
        <p14:section name="Resource Utilization" id="{584BF12B-1E34-2081-BC95-E2FE9B496E27}">
          <p14:sldIdLst>
            <p14:sldId id="264"/>
          </p14:sldIdLst>
        </p14:section>
        <p14:section name="Conclusion" id="{310BF56D-6F40-6C8A-9609-A9AB25696032}">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6" d="100"/>
          <a:sy n="96" d="100"/>
        </p:scale>
        <p:origin x="5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365D"/>
                </a:solidFill>
                <a:latin typeface="+mn-lt"/>
              </a:defRPr>
            </a:pPr>
            <a:r>
              <a:rPr lang="en-US" sz="1400" b="0" i="0" u="none" strike="noStrike">
                <a:solidFill>
                  <a:srgbClr val="1A365D"/>
                </a:solidFill>
                <a:latin typeface="+mn-lt"/>
              </a:rPr>
              <a:t>Checks passed per test (tb_cpu)</a:t>
            </a:r>
          </a:p>
        </c:rich>
      </c:tx>
      <c:overlay val="0"/>
    </c:title>
    <c:autoTitleDeleted val="0"/>
    <c:plotArea>
      <c:layout/>
      <c:barChart>
        <c:barDir val="col"/>
        <c:grouping val="clustered"/>
        <c:varyColors val="0"/>
        <c:ser>
          <c:idx val="0"/>
          <c:order val="0"/>
          <c:tx>
            <c:strRef>
              <c:f>Sheet1!$B$1</c:f>
              <c:strCache>
                <c:ptCount val="1"/>
                <c:pt idx="0">
                  <c:v>Checks passed</c:v>
                </c:pt>
              </c:strCache>
            </c:strRef>
          </c:tx>
          <c:spPr>
            <a:solidFill>
              <a:srgbClr val="2F855A"/>
            </a:solidFill>
            <a:effectLst/>
          </c:spPr>
          <c:invertIfNegative val="0"/>
          <c:dLbls>
            <c:numFmt formatCode="#,##0" sourceLinked="0"/>
            <c:spPr>
              <a:noFill/>
              <a:ln>
                <a:noFill/>
              </a:ln>
              <a:effectLst/>
            </c:spPr>
            <c:txPr>
              <a:bodyPr/>
              <a:lstStyle/>
              <a:p>
                <a:pPr>
                  <a:defRPr sz="1400" b="1" i="0" u="none" strike="noStrike">
                    <a:solidFill>
                      <a:srgbClr val="2F855A"/>
                    </a:solidFill>
                    <a:latin typeface="+mn-lt"/>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T1 Demo</c:v>
                </c:pt>
                <c:pt idx="1">
                  <c:v>T2 Arith + mem</c:v>
                </c:pt>
                <c:pt idx="2">
                  <c:v>T3 Logic</c:v>
                </c:pt>
                <c:pt idx="3">
                  <c:v>T4 Jumps</c:v>
                </c:pt>
                <c:pt idx="4">
                  <c:v>T5 Reset</c:v>
                </c:pt>
              </c:strCache>
            </c:strRef>
          </c:cat>
          <c:val>
            <c:numRef>
              <c:f>Sheet1!$B$2:$B$6</c:f>
              <c:numCache>
                <c:formatCode>General</c:formatCode>
                <c:ptCount val="5"/>
                <c:pt idx="0">
                  <c:v>6</c:v>
                </c:pt>
                <c:pt idx="1">
                  <c:v>11</c:v>
                </c:pt>
                <c:pt idx="2">
                  <c:v>8</c:v>
                </c:pt>
                <c:pt idx="3">
                  <c:v>11</c:v>
                </c:pt>
                <c:pt idx="4">
                  <c:v>8</c:v>
                </c:pt>
              </c:numCache>
            </c:numRef>
          </c:val>
          <c:extLst>
            <c:ext xmlns:c16="http://schemas.microsoft.com/office/drawing/2014/chart" uri="{C3380CC4-5D6E-409C-BE32-E72D297353CC}">
              <c16:uniqueId val="{00000000-20E9-401B-9598-FB8D8981A75B}"/>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ax val="13"/>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A365D"/>
                </a:solidFill>
                <a:latin typeface="+mn-lt"/>
              </a:defRPr>
            </a:pPr>
            <a:r>
              <a:rPr lang="en-US" sz="1400" b="0" i="0" u="none" strike="noStrike">
                <a:solidFill>
                  <a:srgbClr val="1A365D"/>
                </a:solidFill>
                <a:latin typeface="+mn-lt"/>
              </a:rPr>
              <a:t>Clock cycles per program (measured in tb_cpu)</a:t>
            </a:r>
          </a:p>
        </c:rich>
      </c:tx>
      <c:overlay val="0"/>
    </c:title>
    <c:autoTitleDeleted val="0"/>
    <c:plotArea>
      <c:layout/>
      <c:barChart>
        <c:barDir val="col"/>
        <c:grouping val="clustered"/>
        <c:varyColors val="0"/>
        <c:ser>
          <c:idx val="0"/>
          <c:order val="0"/>
          <c:tx>
            <c:strRef>
              <c:f>Sheet1!$B$1</c:f>
              <c:strCache>
                <c:ptCount val="1"/>
                <c:pt idx="0">
                  <c:v>2-cycle design</c:v>
                </c:pt>
              </c:strCache>
            </c:strRef>
          </c:tx>
          <c:spPr>
            <a:solidFill>
              <a:srgbClr val="CBD5E0"/>
            </a:solidFill>
            <a:effectLst/>
          </c:spPr>
          <c:invertIfNegative val="0"/>
          <c:dLbls>
            <c:numFmt formatCode="#,##0" sourceLinked="0"/>
            <c:spPr>
              <a:noFill/>
              <a:ln>
                <a:noFill/>
              </a:ln>
              <a:effectLst/>
            </c:spPr>
            <c:txPr>
              <a:bodyPr/>
              <a:lstStyle/>
              <a:p>
                <a:pPr>
                  <a:defRPr sz="1200" b="0" i="0" u="none" strike="noStrike">
                    <a:solidFill>
                      <a:srgbClr val="1A202C"/>
                    </a:solidFill>
                    <a:latin typeface="+mn-lt"/>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Demo (5 instr.)</c:v>
                </c:pt>
                <c:pt idx="1">
                  <c:v>Arith + mem (9)</c:v>
                </c:pt>
                <c:pt idx="2">
                  <c:v>Logic (12)</c:v>
                </c:pt>
              </c:strCache>
            </c:strRef>
          </c:cat>
          <c:val>
            <c:numRef>
              <c:f>Sheet1!$B$2:$B$4</c:f>
              <c:numCache>
                <c:formatCode>General</c:formatCode>
                <c:ptCount val="3"/>
                <c:pt idx="0">
                  <c:v>10</c:v>
                </c:pt>
                <c:pt idx="1">
                  <c:v>18</c:v>
                </c:pt>
                <c:pt idx="2">
                  <c:v>24</c:v>
                </c:pt>
              </c:numCache>
            </c:numRef>
          </c:val>
          <c:extLst>
            <c:ext xmlns:c16="http://schemas.microsoft.com/office/drawing/2014/chart" uri="{C3380CC4-5D6E-409C-BE32-E72D297353CC}">
              <c16:uniqueId val="{00000000-6E6A-4128-85CB-5E634B1420EF}"/>
            </c:ext>
          </c:extLst>
        </c:ser>
        <c:ser>
          <c:idx val="1"/>
          <c:order val="1"/>
          <c:tx>
            <c:strRef>
              <c:f>Sheet1!$C$1</c:f>
              <c:strCache>
                <c:ptCount val="1"/>
                <c:pt idx="0">
                  <c:v>3-stage pipeline</c:v>
                </c:pt>
              </c:strCache>
            </c:strRef>
          </c:tx>
          <c:spPr>
            <a:solidFill>
              <a:srgbClr val="2B6CB0"/>
            </a:solidFill>
            <a:effectLst/>
          </c:spPr>
          <c:invertIfNegative val="0"/>
          <c:dLbls>
            <c:numFmt formatCode="#,##0" sourceLinked="0"/>
            <c:spPr>
              <a:noFill/>
              <a:ln>
                <a:noFill/>
              </a:ln>
              <a:effectLst/>
            </c:spPr>
            <c:txPr>
              <a:bodyPr/>
              <a:lstStyle/>
              <a:p>
                <a:pPr>
                  <a:defRPr sz="1200" b="0" i="0" u="none" strike="noStrike">
                    <a:solidFill>
                      <a:srgbClr val="1A202C"/>
                    </a:solidFill>
                    <a:latin typeface="+mn-lt"/>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Demo (5 instr.)</c:v>
                </c:pt>
                <c:pt idx="1">
                  <c:v>Arith + mem (9)</c:v>
                </c:pt>
                <c:pt idx="2">
                  <c:v>Logic (12)</c:v>
                </c:pt>
              </c:strCache>
            </c:strRef>
          </c:cat>
          <c:val>
            <c:numRef>
              <c:f>Sheet1!$C$2:$C$4</c:f>
              <c:numCache>
                <c:formatCode>General</c:formatCode>
                <c:ptCount val="3"/>
                <c:pt idx="0">
                  <c:v>7</c:v>
                </c:pt>
                <c:pt idx="1">
                  <c:v>11</c:v>
                </c:pt>
                <c:pt idx="2">
                  <c:v>14</c:v>
                </c:pt>
              </c:numCache>
            </c:numRef>
          </c:val>
          <c:extLst>
            <c:ext xmlns:c16="http://schemas.microsoft.com/office/drawing/2014/chart" uri="{C3380CC4-5D6E-409C-BE32-E72D297353CC}">
              <c16:uniqueId val="{00000001-6E6A-4128-85CB-5E634B1420EF}"/>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ax val="28"/>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majorUnit val="5"/>
      </c:valAx>
      <c:spPr>
        <a:noFill/>
        <a:ln>
          <a:noFill/>
        </a:ln>
        <a:effectLst/>
      </c:spPr>
    </c:plotArea>
    <c:legend>
      <c:legendPos val="t"/>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A365D"/>
                </a:solidFill>
                <a:latin typeface="+mn-lt"/>
              </a:defRPr>
            </a:pPr>
            <a:r>
              <a:rPr lang="vi-VN" sz="1300" b="0" i="0" u="none" strike="noStrike">
                <a:solidFill>
                  <a:srgbClr val="1A365D"/>
                </a:solidFill>
                <a:latin typeface="+mn-lt"/>
              </a:rPr>
              <a:t>Device utilization, xc7a35tcpg236-1 (%)</a:t>
            </a:r>
          </a:p>
        </c:rich>
      </c:tx>
      <c:overlay val="0"/>
    </c:title>
    <c:autoTitleDeleted val="0"/>
    <c:plotArea>
      <c:layout/>
      <c:barChart>
        <c:barDir val="bar"/>
        <c:grouping val="clustered"/>
        <c:varyColors val="0"/>
        <c:ser>
          <c:idx val="0"/>
          <c:order val="0"/>
          <c:tx>
            <c:strRef>
              <c:f>Sheet1!$B$1</c:f>
              <c:strCache>
                <c:ptCount val="1"/>
                <c:pt idx="0">
                  <c:v>Utilization %</c:v>
                </c:pt>
              </c:strCache>
            </c:strRef>
          </c:tx>
          <c:spPr>
            <a:solidFill>
              <a:srgbClr val="2B6CB0"/>
            </a:solidFill>
            <a:effectLst/>
          </c:spPr>
          <c:invertIfNegative val="0"/>
          <c:dLbls>
            <c:numFmt formatCode="0.0#&quot;%&quot;" sourceLinked="0"/>
            <c:spPr>
              <a:noFill/>
              <a:ln>
                <a:noFill/>
              </a:ln>
              <a:effectLst/>
            </c:spPr>
            <c:txPr>
              <a:bodyPr/>
              <a:lstStyle/>
              <a:p>
                <a:pPr>
                  <a:defRPr sz="1100" b="0" i="0" u="none" strike="noStrike">
                    <a:solidFill>
                      <a:srgbClr val="1A202C"/>
                    </a:solidFill>
                    <a:latin typeface="+mn-lt"/>
                  </a:defRPr>
                </a:pPr>
                <a:endParaRPr lang="vi-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Slice LUTs</c:v>
                </c:pt>
                <c:pt idx="1">
                  <c:v>Flip-flops</c:v>
                </c:pt>
                <c:pt idx="2">
                  <c:v>Slices</c:v>
                </c:pt>
                <c:pt idx="3">
                  <c:v>Block RAM</c:v>
                </c:pt>
                <c:pt idx="4">
                  <c:v>DSP48</c:v>
                </c:pt>
                <c:pt idx="5">
                  <c:v>BUFGCTRL</c:v>
                </c:pt>
                <c:pt idx="6">
                  <c:v>Bonded IOB</c:v>
                </c:pt>
              </c:strCache>
            </c:strRef>
          </c:cat>
          <c:val>
            <c:numRef>
              <c:f>Sheet1!$B$2:$B$8</c:f>
              <c:numCache>
                <c:formatCode>General</c:formatCode>
                <c:ptCount val="7"/>
                <c:pt idx="0">
                  <c:v>0.2</c:v>
                </c:pt>
                <c:pt idx="1">
                  <c:v>0.14000000000000001</c:v>
                </c:pt>
                <c:pt idx="2">
                  <c:v>0.17</c:v>
                </c:pt>
                <c:pt idx="3">
                  <c:v>0</c:v>
                </c:pt>
                <c:pt idx="4">
                  <c:v>0</c:v>
                </c:pt>
                <c:pt idx="5">
                  <c:v>3.1</c:v>
                </c:pt>
                <c:pt idx="6">
                  <c:v>26.4</c:v>
                </c:pt>
              </c:numCache>
            </c:numRef>
          </c:val>
          <c:extLst>
            <c:ext xmlns:c16="http://schemas.microsoft.com/office/drawing/2014/chart" uri="{C3380CC4-5D6E-409C-BE32-E72D297353CC}">
              <c16:uniqueId val="{00000000-02C6-43F5-9B5E-99962A70D74E}"/>
            </c:ext>
          </c:extLst>
        </c:ser>
        <c:dLbls>
          <c:showLegendKey val="0"/>
          <c:showVal val="1"/>
          <c:showCatName val="0"/>
          <c:showSerName val="0"/>
          <c:showPercent val="0"/>
          <c:showBubbleSize val="0"/>
        </c:dLbls>
        <c:gapWidth val="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0"/>
        <c:axPos val="t"/>
        <c:majorGridlines>
          <c:spPr>
            <a:ln w="6350" cap="flat">
              <a:solidFill>
                <a:srgbClr val="E2E8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4A5568"/>
                </a:solidFill>
                <a:latin typeface="+mn-lt"/>
              </a:defRPr>
            </a:pPr>
            <a:endParaRPr lang="en-US"/>
          </a:p>
        </c:txPr>
        <c:crossAx val="2094734554"/>
        <c:crosses val="autoZero"/>
        <c:crossBetween val="between"/>
        <c:majorUnit val="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4585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Good morning. I am Tran Duy, SE193143. My project is a 4-bit RISC CPU with a 3-stage pipeline, written in Verilog, verified in simulation and implemented in Vivado on an Artix-7 FPGA. I will cover the architecture, the simulation results and the hardware cost.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 The CPU is 4 bits wide with 4 general-purpose registers and Harvard memories: 16 words of 12-bit instructions and 16 words of 4-bit data. Every instruction is 12 bits with fixed fields, so decoding is simple: 4-bit opcode, two 2-bit register fields and a 4-bit immediate or address. There are 12 instructions in four groups; the 4 unused opcodes behave as NOP. Flags are Zero and Carry.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This is the datapath. Two pipeline registers, IF/ID and ID/EX, split it into three stages. IF: the PC reads the instruction ROM and the next PC is PC plus 1 or a jump target. ID: a purely combinational, hardwired decoder turns the opcode into control signals; every opcode has a defined output, so no latches are inferred. EX: registers are read, the ALU computes, data memory is accessed, the result is written back and the flags are updated, all in one cycle. The branch unit also sits in EX: on a taken jump it selects the jump target and flushes both pipeline registers.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 This is the elaborated RTL schematic from Vivado. From left to right: instruction memory and IF/ID register, the control unit, the ID/EX pipeline register, then the execute stage: register file, operand mux, ALU, data memory, write-back mux, flag register, and the PC with its incrementer and PC mux. The expanded schematic confirms the internals: register banks, adders, a zero detector, and only gates and comparators in the control unit, so control is fully hardwired with no state machine.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Pipelines have three kinds of hazard. Structural: avoided because instruction and data memories are separate. Data: because registers are read in EX, one cycle after the previous instruction wrote them, an instruction always sees the new value, with no forwarding or stalls. Control: the jump is decided in EX, so the two instructions behind it are wrong; they are flushed. The chart shows Test 1: JMP 5 reaches EX in cycle 8, then two bubbles appear and the program loops back to address 5. The cost is exactly two cycles per taken jump.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This is the simulation waveform with a 10 ns clock. After reset, all outputs leave X at the first clock edge. Watch pc_out and instr_out, which is the instruction in EX: when the PC is 2, the instruction from address 0 is executing. That two-address offset is exactly a 3-stage pipeline. The ALU output steps through 5, 3, 8, A and 2: one result every cycle. When JMP 5 executes, the PC goes from 7 back to 5 and instr_out shows two bubbles, which is the flush. The errors counter stays at zero during the whole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 The CPU testbench is self-checking: it runs four programs and a reset test and compares registers, flags, PC and memory against expected values. All 44 checks pass with zero errors. Test 2 covers arithmetic and memory, including Carry as no-borrow after SUB. Test 3 covers logic. Test 4 covers jumps: JZ taken and not taken, and the flush. Test 5 confirms that reset clears everything and no X values remain. Every one of the 12 instructions is checked at least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 The benefit of the pipeline: once it is full, one instruction finishes every clock. Nine instructions take 11 cycles instead of 18, and twelve take 14 instead of 24. That is a 1.4 to 1.7 times speed-up on these programs, approaching 2 times for long code without jumps.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 After implementation the CPU uses 41 LUTs, 58 flip-flops and 14 slices: less than 0.2 percent of the Artix-7. No block RAM or DSP is used, which is correct: the memories are far too small for block RAM, and a 4-bit adder fits in LUTs. The only large number is I/O, 26 percent, because I exported debug buses such as pc_out and instr_out to pins. One more point: the instruction ROM is a constant, so Vivado folds the program into the logic and removes unused paths, for example instr_out bit 8 is tied to ground. So these numbers are for the CPU with this program; the general CPU would be somewhat larger but still under 1 percent.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 To conclude: the RTL implements a clean 3-stage pipeline with hardwired control; simulation passes all 44 checks with one instruction per clock; and the hardware cost is tiny. Next steps would be forwarding with earlier branch resolution to remove the jump penalty, a wider PC, and new instructions. Thank you, I am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731520" y="3383280"/>
            <a:ext cx="10698480" cy="731520"/>
          </a:xfrm>
          <a:prstGeom prst="rect">
            <a:avLst/>
          </a:prstGeom>
          <a:noFill/>
          <a:ln/>
        </p:spPr>
        <p:txBody>
          <a:bodyPr wrap="square" rtlCol="0"/>
          <a:lstStyle>
            <a:lvl1pPr marL="0" indent="0" algn="l">
              <a:buNone/>
              <a:defRPr lang="en-US" sz="2200" dirty="0">
                <a:solidFill>
                  <a:schemeClr val="accent5"/>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lgn="l">
              <a:buNone/>
              <a:defRPr lang="en-US" sz="3600" b="1" dirty="0">
                <a:solidFill>
                  <a:schemeClr val="tx2"/>
                </a:solidFill>
              </a:defRPr>
            </a:lvl1pPr>
          </a:lstStyle>
          <a:p>
            <a:pPr marL="0" indent="0" algn="l">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Tran Duy  ·  SE193143   |   4-Bit RISC CPU, 3-Stage Pipeline</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463040"/>
          </a:xfrm>
          <a:prstGeom prst="rect">
            <a:avLst/>
          </a:prstGeom>
          <a:noFill/>
          <a:ln/>
        </p:spPr>
        <p:txBody>
          <a:bodyPr wrap="square" rtlCol="0" anchor="b"/>
          <a:lstStyle/>
          <a:p>
            <a:pPr marL="0" indent="0" algn="l">
              <a:buNone/>
            </a:pPr>
            <a:r>
              <a:rPr lang="en-US" sz="4400" b="1" dirty="0">
                <a:solidFill>
                  <a:schemeClr val="bg1"/>
                </a:solidFill>
              </a:rPr>
              <a:t>4-Bit RISC CPU with a 3-Stage Pipeline</a:t>
            </a:r>
            <a:endParaRPr lang="en-US" sz="4400" dirty="0"/>
          </a:p>
        </p:txBody>
      </p:sp>
      <p:sp>
        <p:nvSpPr>
          <p:cNvPr id="3" name="Text 0"/>
          <p:cNvSpPr>
            <a:spLocks noGrp="1"/>
          </p:cNvSpPr>
          <p:nvPr>
            <p:ph type="body" idx="101" hasCustomPrompt="1"/>
          </p:nvPr>
        </p:nvSpPr>
        <p:spPr>
          <a:xfrm>
            <a:off x="731520" y="3383280"/>
            <a:ext cx="10698480" cy="731520"/>
          </a:xfrm>
          <a:prstGeom prst="rect">
            <a:avLst/>
          </a:prstGeom>
          <a:noFill/>
          <a:ln/>
        </p:spPr>
        <p:txBody>
          <a:bodyPr wrap="square" rtlCol="0" anchor="t"/>
          <a:lstStyle/>
          <a:p>
            <a:pPr marL="0" indent="0" algn="l">
              <a:buNone/>
            </a:pPr>
            <a:r>
              <a:rPr lang="en-US" sz="2200" dirty="0">
                <a:solidFill>
                  <a:schemeClr val="accent5"/>
                </a:solidFill>
              </a:rPr>
              <a:t>Design, Verification and FPGA Resource Analysis in Verilog HDL</a:t>
            </a:r>
            <a:endParaRPr lang="en-US" sz="2200" dirty="0"/>
          </a:p>
        </p:txBody>
      </p:sp>
      <p:sp>
        <p:nvSpPr>
          <p:cNvPr id="4" name="Text 2"/>
          <p:cNvSpPr txBox="1"/>
          <p:nvPr/>
        </p:nvSpPr>
        <p:spPr>
          <a:xfrm>
            <a:off x="731520" y="4754880"/>
            <a:ext cx="6400800" cy="1097280"/>
          </a:xfrm>
          <a:prstGeom prst="rect">
            <a:avLst/>
          </a:prstGeom>
          <a:noFill/>
          <a:ln/>
        </p:spPr>
        <p:txBody>
          <a:bodyPr wrap="square" lIns="0" tIns="0" rIns="0" bIns="0" rtlCol="0" anchor="t"/>
          <a:lstStyle/>
          <a:p>
            <a:pPr marL="0" indent="0">
              <a:buNone/>
            </a:pPr>
            <a:r>
              <a:rPr lang="en-US" sz="1600" b="1" dirty="0">
                <a:solidFill>
                  <a:schemeClr val="bg1"/>
                </a:solidFill>
                <a:latin typeface="Calibri" pitchFamily="34" charset="0"/>
                <a:ea typeface="Calibri" pitchFamily="34" charset="-122"/>
                <a:cs typeface="Calibri" pitchFamily="34" charset="-120"/>
              </a:rPr>
              <a:t>Tran Duy</a:t>
            </a:r>
            <a:endParaRPr lang="en-US" sz="1600" dirty="0"/>
          </a:p>
          <a:p>
            <a:pPr marL="0" indent="0">
              <a:buNone/>
            </a:pPr>
            <a:r>
              <a:rPr lang="en-US" sz="1600" dirty="0">
                <a:solidFill>
                  <a:schemeClr val="bg1"/>
                </a:solidFill>
                <a:latin typeface="Calibri" pitchFamily="34" charset="0"/>
                <a:ea typeface="Calibri" pitchFamily="34" charset="-122"/>
                <a:cs typeface="Calibri" pitchFamily="34" charset="-120"/>
              </a:rPr>
              <a:t>Student ID: SE193143</a:t>
            </a:r>
            <a:endParaRPr lang="en-US" sz="1600" dirty="0"/>
          </a:p>
          <a:p>
            <a:pPr marL="0" indent="0">
              <a:buNone/>
            </a:pPr>
            <a:r>
              <a:rPr lang="en-US" sz="1600" dirty="0">
                <a:solidFill>
                  <a:schemeClr val="bg1"/>
                </a:solidFill>
                <a:latin typeface="Calibri" pitchFamily="34" charset="0"/>
                <a:ea typeface="Calibri" pitchFamily="34" charset="-122"/>
                <a:cs typeface="Calibri" pitchFamily="34" charset="-120"/>
              </a:rPr>
              <a:t>Vivado  ·  Artix-7 xc7a35tcpg236-1</a:t>
            </a:r>
            <a:endParaRPr lang="en-US" sz="1600" dirty="0"/>
          </a:p>
        </p:txBody>
      </p:sp>
      <p:sp>
        <p:nvSpPr>
          <p:cNvPr id="5" name="Shape 3"/>
          <p:cNvSpPr/>
          <p:nvPr/>
        </p:nvSpPr>
        <p:spPr>
          <a:xfrm>
            <a:off x="10058400" y="4709160"/>
            <a:ext cx="1188720" cy="1188720"/>
          </a:xfrm>
          <a:prstGeom prst="ellipse">
            <a:avLst/>
          </a:prstGeom>
          <a:solidFill>
            <a:schemeClr val="accent1"/>
          </a:solidFill>
          <a:ln w="12700">
            <a:solidFill>
              <a:schemeClr val="accent1"/>
            </a:solidFill>
            <a:prstDash val="solid"/>
          </a:ln>
        </p:spPr>
        <p:txBody>
          <a:bodyPr/>
          <a:lstStyle/>
          <a:p>
            <a:endParaRPr lang="vi-VN"/>
          </a:p>
        </p:txBody>
      </p:sp>
      <p:pic>
        <p:nvPicPr>
          <p:cNvPr id="6" name="Image 0" descr="preencoded.png"/>
          <p:cNvPicPr>
            <a:picLocks noChangeAspect="1"/>
          </p:cNvPicPr>
          <p:nvPr/>
        </p:nvPicPr>
        <p:blipFill>
          <a:blip r:embed="rId3"/>
          <a:stretch>
            <a:fillRect/>
          </a:stretch>
        </p:blipFill>
        <p:spPr>
          <a:xfrm>
            <a:off x="10355580" y="5006340"/>
            <a:ext cx="594360" cy="5943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A complete CPU, kept small enough to verify fully</a:t>
            </a:r>
            <a:endParaRPr lang="en-US" sz="3600" dirty="0"/>
          </a:p>
        </p:txBody>
      </p:sp>
      <p:sp>
        <p:nvSpPr>
          <p:cNvPr id="3" name="Shape 1"/>
          <p:cNvSpPr/>
          <p:nvPr/>
        </p:nvSpPr>
        <p:spPr>
          <a:xfrm>
            <a:off x="548640" y="1371600"/>
            <a:ext cx="26060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4" name="Text 2"/>
          <p:cNvSpPr txBox="1"/>
          <p:nvPr/>
        </p:nvSpPr>
        <p:spPr>
          <a:xfrm>
            <a:off x="777240" y="1600200"/>
            <a:ext cx="2194560" cy="73152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4-bit</a:t>
            </a:r>
            <a:endParaRPr lang="en-US" sz="3600" dirty="0"/>
          </a:p>
        </p:txBody>
      </p:sp>
      <p:sp>
        <p:nvSpPr>
          <p:cNvPr id="5" name="Text 3"/>
          <p:cNvSpPr txBox="1"/>
          <p:nvPr/>
        </p:nvSpPr>
        <p:spPr>
          <a:xfrm>
            <a:off x="777240" y="2377440"/>
            <a:ext cx="21945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Datapath: registers, ALU, data memory</a:t>
            </a:r>
            <a:endParaRPr lang="en-US" sz="1400" dirty="0"/>
          </a:p>
        </p:txBody>
      </p:sp>
      <p:sp>
        <p:nvSpPr>
          <p:cNvPr id="6" name="Shape 4"/>
          <p:cNvSpPr/>
          <p:nvPr/>
        </p:nvSpPr>
        <p:spPr>
          <a:xfrm>
            <a:off x="3337560" y="1371600"/>
            <a:ext cx="26060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7" name="Text 5"/>
          <p:cNvSpPr txBox="1"/>
          <p:nvPr/>
        </p:nvSpPr>
        <p:spPr>
          <a:xfrm>
            <a:off x="3566160" y="1600200"/>
            <a:ext cx="2194560" cy="73152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12-bit</a:t>
            </a:r>
            <a:endParaRPr lang="en-US" sz="3600" dirty="0"/>
          </a:p>
        </p:txBody>
      </p:sp>
      <p:sp>
        <p:nvSpPr>
          <p:cNvPr id="8" name="Text 6"/>
          <p:cNvSpPr txBox="1"/>
          <p:nvPr/>
        </p:nvSpPr>
        <p:spPr>
          <a:xfrm>
            <a:off x="3566160" y="2377440"/>
            <a:ext cx="21945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Fixed-length instruction word</a:t>
            </a:r>
            <a:endParaRPr lang="en-US" sz="1400" dirty="0"/>
          </a:p>
        </p:txBody>
      </p:sp>
      <p:sp>
        <p:nvSpPr>
          <p:cNvPr id="9" name="Shape 7"/>
          <p:cNvSpPr/>
          <p:nvPr/>
        </p:nvSpPr>
        <p:spPr>
          <a:xfrm>
            <a:off x="548640" y="3337560"/>
            <a:ext cx="26060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10" name="Text 8"/>
          <p:cNvSpPr txBox="1"/>
          <p:nvPr/>
        </p:nvSpPr>
        <p:spPr>
          <a:xfrm>
            <a:off x="777240" y="3566160"/>
            <a:ext cx="2194560" cy="73152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3-stage</a:t>
            </a:r>
            <a:endParaRPr lang="en-US" sz="3600" dirty="0"/>
          </a:p>
        </p:txBody>
      </p:sp>
      <p:sp>
        <p:nvSpPr>
          <p:cNvPr id="11" name="Text 9"/>
          <p:cNvSpPr txBox="1"/>
          <p:nvPr/>
        </p:nvSpPr>
        <p:spPr>
          <a:xfrm>
            <a:off x="777240" y="4343400"/>
            <a:ext cx="21945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IF / ID / EX pipeline, CPI = 1</a:t>
            </a:r>
            <a:endParaRPr lang="en-US" sz="1400" dirty="0"/>
          </a:p>
        </p:txBody>
      </p:sp>
      <p:sp>
        <p:nvSpPr>
          <p:cNvPr id="12" name="Shape 10"/>
          <p:cNvSpPr/>
          <p:nvPr/>
        </p:nvSpPr>
        <p:spPr>
          <a:xfrm>
            <a:off x="3337560" y="3337560"/>
            <a:ext cx="26060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13" name="Text 11"/>
          <p:cNvSpPr txBox="1"/>
          <p:nvPr/>
        </p:nvSpPr>
        <p:spPr>
          <a:xfrm>
            <a:off x="3566160" y="3566160"/>
            <a:ext cx="2194560" cy="73152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4 × 4-bit</a:t>
            </a:r>
            <a:endParaRPr lang="en-US" sz="3600" dirty="0"/>
          </a:p>
        </p:txBody>
      </p:sp>
      <p:sp>
        <p:nvSpPr>
          <p:cNvPr id="14" name="Text 12"/>
          <p:cNvSpPr txBox="1"/>
          <p:nvPr/>
        </p:nvSpPr>
        <p:spPr>
          <a:xfrm>
            <a:off x="3566160" y="4343400"/>
            <a:ext cx="2194560" cy="6400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Register file R0–R3, 2 read + 1 write port</a:t>
            </a:r>
            <a:endParaRPr lang="en-US" sz="1400" dirty="0"/>
          </a:p>
        </p:txBody>
      </p:sp>
      <p:sp>
        <p:nvSpPr>
          <p:cNvPr id="15" name="Text 13"/>
          <p:cNvSpPr txBox="1"/>
          <p:nvPr/>
        </p:nvSpPr>
        <p:spPr>
          <a:xfrm>
            <a:off x="6400800" y="1371600"/>
            <a:ext cx="5212080" cy="365760"/>
          </a:xfrm>
          <a:prstGeom prst="rect">
            <a:avLst/>
          </a:prstGeom>
          <a:noFill/>
          <a:ln/>
        </p:spPr>
        <p:txBody>
          <a:bodyPr wrap="square" lIns="0" tIns="0" rIns="0" bIns="0" rtlCol="0" anchor="t"/>
          <a:lstStyle/>
          <a:p>
            <a:pPr marL="0" indent="0">
              <a:buNone/>
            </a:pPr>
            <a:r>
              <a:rPr lang="en-US" sz="2000" b="1" dirty="0">
                <a:solidFill>
                  <a:schemeClr val="tx2"/>
                </a:solidFill>
                <a:latin typeface="Arial" pitchFamily="34" charset="0"/>
                <a:ea typeface="Arial" pitchFamily="34" charset="-122"/>
                <a:cs typeface="Arial" pitchFamily="34" charset="-120"/>
              </a:rPr>
              <a:t>Instruction format</a:t>
            </a:r>
            <a:endParaRPr lang="en-US" sz="2000" dirty="0"/>
          </a:p>
        </p:txBody>
      </p:sp>
      <p:sp>
        <p:nvSpPr>
          <p:cNvPr id="16" name="Shape 14"/>
          <p:cNvSpPr/>
          <p:nvPr/>
        </p:nvSpPr>
        <p:spPr>
          <a:xfrm>
            <a:off x="6400800" y="1828800"/>
            <a:ext cx="1691640" cy="685800"/>
          </a:xfrm>
          <a:prstGeom prst="rect">
            <a:avLst/>
          </a:prstGeom>
          <a:solidFill>
            <a:schemeClr val="tx2"/>
          </a:solidFill>
          <a:ln w="12700">
            <a:solidFill>
              <a:schemeClr val="tx2"/>
            </a:solidFill>
            <a:prstDash val="solid"/>
          </a:ln>
        </p:spPr>
        <p:txBody>
          <a:bodyPr/>
          <a:lstStyle/>
          <a:p>
            <a:endParaRPr lang="vi-VN"/>
          </a:p>
        </p:txBody>
      </p:sp>
      <p:sp>
        <p:nvSpPr>
          <p:cNvPr id="17" name="Text 15"/>
          <p:cNvSpPr txBox="1"/>
          <p:nvPr/>
        </p:nvSpPr>
        <p:spPr>
          <a:xfrm>
            <a:off x="6400800" y="1856232"/>
            <a:ext cx="1691640"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opcode</a:t>
            </a:r>
            <a:endParaRPr lang="en-US" sz="1400" dirty="0"/>
          </a:p>
          <a:p>
            <a:pPr marL="0" indent="0" algn="ctr">
              <a:buNone/>
            </a:pPr>
            <a:r>
              <a:rPr lang="en-US" sz="1200" dirty="0">
                <a:solidFill>
                  <a:schemeClr val="bg1"/>
                </a:solidFill>
                <a:latin typeface="Calibri" pitchFamily="34" charset="0"/>
                <a:ea typeface="Calibri" pitchFamily="34" charset="-122"/>
                <a:cs typeface="Calibri" pitchFamily="34" charset="-120"/>
              </a:rPr>
              <a:t>[11:8]</a:t>
            </a:r>
            <a:endParaRPr lang="en-US" sz="1400" dirty="0"/>
          </a:p>
        </p:txBody>
      </p:sp>
      <p:sp>
        <p:nvSpPr>
          <p:cNvPr id="18" name="Shape 16"/>
          <p:cNvSpPr/>
          <p:nvPr/>
        </p:nvSpPr>
        <p:spPr>
          <a:xfrm>
            <a:off x="8138160" y="1828800"/>
            <a:ext cx="822960" cy="685800"/>
          </a:xfrm>
          <a:prstGeom prst="rect">
            <a:avLst/>
          </a:prstGeom>
          <a:solidFill>
            <a:schemeClr val="accent1"/>
          </a:solidFill>
          <a:ln w="12700">
            <a:solidFill>
              <a:schemeClr val="accent1"/>
            </a:solidFill>
            <a:prstDash val="solid"/>
          </a:ln>
        </p:spPr>
        <p:txBody>
          <a:bodyPr/>
          <a:lstStyle/>
          <a:p>
            <a:endParaRPr lang="vi-VN"/>
          </a:p>
        </p:txBody>
      </p:sp>
      <p:sp>
        <p:nvSpPr>
          <p:cNvPr id="19" name="Text 17"/>
          <p:cNvSpPr txBox="1"/>
          <p:nvPr/>
        </p:nvSpPr>
        <p:spPr>
          <a:xfrm>
            <a:off x="8138160" y="1856232"/>
            <a:ext cx="822960"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Rd</a:t>
            </a:r>
            <a:endParaRPr lang="en-US" sz="1400" dirty="0"/>
          </a:p>
          <a:p>
            <a:pPr marL="0" indent="0" algn="ctr">
              <a:buNone/>
            </a:pPr>
            <a:r>
              <a:rPr lang="en-US" sz="1200" dirty="0">
                <a:solidFill>
                  <a:schemeClr val="bg1"/>
                </a:solidFill>
                <a:latin typeface="Calibri" pitchFamily="34" charset="0"/>
                <a:ea typeface="Calibri" pitchFamily="34" charset="-122"/>
                <a:cs typeface="Calibri" pitchFamily="34" charset="-120"/>
              </a:rPr>
              <a:t>[7:6]</a:t>
            </a:r>
            <a:endParaRPr lang="en-US" sz="1400" dirty="0"/>
          </a:p>
        </p:txBody>
      </p:sp>
      <p:sp>
        <p:nvSpPr>
          <p:cNvPr id="20" name="Shape 18"/>
          <p:cNvSpPr/>
          <p:nvPr/>
        </p:nvSpPr>
        <p:spPr>
          <a:xfrm>
            <a:off x="9006840" y="1828800"/>
            <a:ext cx="822960" cy="685800"/>
          </a:xfrm>
          <a:prstGeom prst="rect">
            <a:avLst/>
          </a:prstGeom>
          <a:solidFill>
            <a:schemeClr val="accent1"/>
          </a:solidFill>
          <a:ln w="12700">
            <a:solidFill>
              <a:schemeClr val="accent1"/>
            </a:solidFill>
            <a:prstDash val="solid"/>
          </a:ln>
        </p:spPr>
        <p:txBody>
          <a:bodyPr/>
          <a:lstStyle/>
          <a:p>
            <a:endParaRPr lang="vi-VN"/>
          </a:p>
        </p:txBody>
      </p:sp>
      <p:sp>
        <p:nvSpPr>
          <p:cNvPr id="21" name="Text 19"/>
          <p:cNvSpPr txBox="1"/>
          <p:nvPr/>
        </p:nvSpPr>
        <p:spPr>
          <a:xfrm>
            <a:off x="9006840" y="1856232"/>
            <a:ext cx="822960"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Rs</a:t>
            </a:r>
            <a:endParaRPr lang="en-US" sz="1400" dirty="0"/>
          </a:p>
          <a:p>
            <a:pPr marL="0" indent="0" algn="ctr">
              <a:buNone/>
            </a:pPr>
            <a:r>
              <a:rPr lang="en-US" sz="1200" dirty="0">
                <a:solidFill>
                  <a:schemeClr val="bg1"/>
                </a:solidFill>
                <a:latin typeface="Calibri" pitchFamily="34" charset="0"/>
                <a:ea typeface="Calibri" pitchFamily="34" charset="-122"/>
                <a:cs typeface="Calibri" pitchFamily="34" charset="-120"/>
              </a:rPr>
              <a:t>[5:4]</a:t>
            </a:r>
            <a:endParaRPr lang="en-US" sz="1400" dirty="0"/>
          </a:p>
        </p:txBody>
      </p:sp>
      <p:sp>
        <p:nvSpPr>
          <p:cNvPr id="22" name="Shape 20"/>
          <p:cNvSpPr/>
          <p:nvPr/>
        </p:nvSpPr>
        <p:spPr>
          <a:xfrm>
            <a:off x="9875520" y="1828800"/>
            <a:ext cx="1691640" cy="685800"/>
          </a:xfrm>
          <a:prstGeom prst="rect">
            <a:avLst/>
          </a:prstGeom>
          <a:solidFill>
            <a:schemeClr val="accent2"/>
          </a:solidFill>
          <a:ln w="12700">
            <a:solidFill>
              <a:schemeClr val="accent2"/>
            </a:solidFill>
            <a:prstDash val="solid"/>
          </a:ln>
        </p:spPr>
        <p:txBody>
          <a:bodyPr/>
          <a:lstStyle/>
          <a:p>
            <a:endParaRPr lang="vi-VN"/>
          </a:p>
        </p:txBody>
      </p:sp>
      <p:sp>
        <p:nvSpPr>
          <p:cNvPr id="23" name="Text 21"/>
          <p:cNvSpPr txBox="1"/>
          <p:nvPr/>
        </p:nvSpPr>
        <p:spPr>
          <a:xfrm>
            <a:off x="9875520" y="1856232"/>
            <a:ext cx="1691640" cy="64008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imm / addr</a:t>
            </a:r>
            <a:endParaRPr lang="en-US" sz="1400" dirty="0"/>
          </a:p>
          <a:p>
            <a:pPr marL="0" indent="0" algn="ctr">
              <a:buNone/>
            </a:pPr>
            <a:r>
              <a:rPr lang="en-US" sz="1200" dirty="0">
                <a:solidFill>
                  <a:schemeClr val="bg1"/>
                </a:solidFill>
                <a:latin typeface="Calibri" pitchFamily="34" charset="0"/>
                <a:ea typeface="Calibri" pitchFamily="34" charset="-122"/>
                <a:cs typeface="Calibri" pitchFamily="34" charset="-120"/>
              </a:rPr>
              <a:t>[3:0]</a:t>
            </a:r>
            <a:endParaRPr lang="en-US" sz="1400" dirty="0"/>
          </a:p>
        </p:txBody>
      </p:sp>
      <p:sp>
        <p:nvSpPr>
          <p:cNvPr id="24" name="Text 22"/>
          <p:cNvSpPr txBox="1"/>
          <p:nvPr/>
        </p:nvSpPr>
        <p:spPr>
          <a:xfrm>
            <a:off x="6400800" y="2651760"/>
            <a:ext cx="5212080" cy="320040"/>
          </a:xfrm>
          <a:prstGeom prst="rect">
            <a:avLst/>
          </a:prstGeom>
          <a:noFill/>
          <a:ln/>
        </p:spPr>
        <p:txBody>
          <a:bodyPr wrap="square" lIns="0" tIns="0" rIns="0" bIns="0" rtlCol="0" anchor="t"/>
          <a:lstStyle/>
          <a:p>
            <a:pPr marL="0" indent="0">
              <a:buNone/>
            </a:pPr>
            <a:r>
              <a:rPr lang="en-US" sz="1400" i="1" dirty="0">
                <a:solidFill>
                  <a:schemeClr val="accent6"/>
                </a:solidFill>
                <a:latin typeface="Calibri" pitchFamily="34" charset="0"/>
                <a:ea typeface="Calibri" pitchFamily="34" charset="-122"/>
                <a:cs typeface="Calibri" pitchFamily="34" charset="-120"/>
              </a:rPr>
              <a:t>Example: ADD R1, R2  →  0000 01 10 0000 = 0x060</a:t>
            </a:r>
            <a:endParaRPr lang="en-US" sz="1400" dirty="0"/>
          </a:p>
        </p:txBody>
      </p:sp>
      <p:sp>
        <p:nvSpPr>
          <p:cNvPr id="25" name="Text 23"/>
          <p:cNvSpPr txBox="1"/>
          <p:nvPr/>
        </p:nvSpPr>
        <p:spPr>
          <a:xfrm>
            <a:off x="6400800" y="3246120"/>
            <a:ext cx="5212080" cy="365760"/>
          </a:xfrm>
          <a:prstGeom prst="rect">
            <a:avLst/>
          </a:prstGeom>
          <a:noFill/>
          <a:ln/>
        </p:spPr>
        <p:txBody>
          <a:bodyPr wrap="square" lIns="0" tIns="0" rIns="0" bIns="0" rtlCol="0" anchor="t"/>
          <a:lstStyle/>
          <a:p>
            <a:pPr marL="0" indent="0">
              <a:buNone/>
            </a:pPr>
            <a:r>
              <a:rPr lang="en-US" sz="2000" b="1" dirty="0">
                <a:solidFill>
                  <a:schemeClr val="tx2"/>
                </a:solidFill>
                <a:latin typeface="Arial" pitchFamily="34" charset="0"/>
                <a:ea typeface="Arial" pitchFamily="34" charset="-122"/>
                <a:cs typeface="Arial" pitchFamily="34" charset="-120"/>
              </a:rPr>
              <a:t>12 instructions, hardwired control</a:t>
            </a:r>
            <a:endParaRPr lang="en-US" sz="2000" dirty="0"/>
          </a:p>
        </p:txBody>
      </p:sp>
      <p:sp>
        <p:nvSpPr>
          <p:cNvPr id="26" name="Shape 24"/>
          <p:cNvSpPr/>
          <p:nvPr/>
        </p:nvSpPr>
        <p:spPr>
          <a:xfrm>
            <a:off x="6400800" y="3703320"/>
            <a:ext cx="5212080" cy="475488"/>
          </a:xfrm>
          <a:prstGeom prst="roundRect">
            <a:avLst>
              <a:gd name="adj" fmla="val 23077"/>
            </a:avLst>
          </a:prstGeom>
          <a:solidFill>
            <a:schemeClr val="bg2"/>
          </a:solidFill>
          <a:ln w="12700">
            <a:solidFill>
              <a:schemeClr val="bg2"/>
            </a:solidFill>
            <a:prstDash val="solid"/>
          </a:ln>
        </p:spPr>
        <p:txBody>
          <a:bodyPr/>
          <a:lstStyle/>
          <a:p>
            <a:endParaRPr lang="vi-VN"/>
          </a:p>
        </p:txBody>
      </p:sp>
      <p:sp>
        <p:nvSpPr>
          <p:cNvPr id="27" name="Text 25"/>
          <p:cNvSpPr txBox="1"/>
          <p:nvPr/>
        </p:nvSpPr>
        <p:spPr>
          <a:xfrm>
            <a:off x="6583680" y="3703320"/>
            <a:ext cx="1554480" cy="47548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Arithmetic</a:t>
            </a:r>
            <a:endParaRPr lang="en-US" sz="1400" dirty="0"/>
          </a:p>
        </p:txBody>
      </p:sp>
      <p:sp>
        <p:nvSpPr>
          <p:cNvPr id="28" name="Text 26"/>
          <p:cNvSpPr txBox="1"/>
          <p:nvPr/>
        </p:nvSpPr>
        <p:spPr>
          <a:xfrm>
            <a:off x="8138160" y="3703320"/>
            <a:ext cx="3383280" cy="475488"/>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ADD  SUB</a:t>
            </a:r>
            <a:endParaRPr lang="en-US" sz="1400" dirty="0"/>
          </a:p>
        </p:txBody>
      </p:sp>
      <p:sp>
        <p:nvSpPr>
          <p:cNvPr id="29" name="Shape 27"/>
          <p:cNvSpPr/>
          <p:nvPr/>
        </p:nvSpPr>
        <p:spPr>
          <a:xfrm>
            <a:off x="6400800" y="4270248"/>
            <a:ext cx="5212080" cy="475488"/>
          </a:xfrm>
          <a:prstGeom prst="roundRect">
            <a:avLst>
              <a:gd name="adj" fmla="val 23077"/>
            </a:avLst>
          </a:prstGeom>
          <a:solidFill>
            <a:schemeClr val="bg2"/>
          </a:solidFill>
          <a:ln w="12700">
            <a:solidFill>
              <a:schemeClr val="bg2"/>
            </a:solidFill>
            <a:prstDash val="solid"/>
          </a:ln>
        </p:spPr>
        <p:txBody>
          <a:bodyPr/>
          <a:lstStyle/>
          <a:p>
            <a:endParaRPr lang="vi-VN"/>
          </a:p>
        </p:txBody>
      </p:sp>
      <p:sp>
        <p:nvSpPr>
          <p:cNvPr id="30" name="Text 28"/>
          <p:cNvSpPr txBox="1"/>
          <p:nvPr/>
        </p:nvSpPr>
        <p:spPr>
          <a:xfrm>
            <a:off x="6583680" y="4270248"/>
            <a:ext cx="1554480" cy="47548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Logic</a:t>
            </a:r>
            <a:endParaRPr lang="en-US" sz="1400" dirty="0"/>
          </a:p>
        </p:txBody>
      </p:sp>
      <p:sp>
        <p:nvSpPr>
          <p:cNvPr id="31" name="Text 29"/>
          <p:cNvSpPr txBox="1"/>
          <p:nvPr/>
        </p:nvSpPr>
        <p:spPr>
          <a:xfrm>
            <a:off x="8138160" y="4270248"/>
            <a:ext cx="3383280" cy="475488"/>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AND  OR  XOR  NOT</a:t>
            </a:r>
            <a:endParaRPr lang="en-US" sz="1400" dirty="0"/>
          </a:p>
        </p:txBody>
      </p:sp>
      <p:sp>
        <p:nvSpPr>
          <p:cNvPr id="32" name="Shape 30"/>
          <p:cNvSpPr/>
          <p:nvPr/>
        </p:nvSpPr>
        <p:spPr>
          <a:xfrm>
            <a:off x="6400800" y="4837176"/>
            <a:ext cx="5212080" cy="475488"/>
          </a:xfrm>
          <a:prstGeom prst="roundRect">
            <a:avLst>
              <a:gd name="adj" fmla="val 23077"/>
            </a:avLst>
          </a:prstGeom>
          <a:solidFill>
            <a:schemeClr val="bg2"/>
          </a:solidFill>
          <a:ln w="12700">
            <a:solidFill>
              <a:schemeClr val="bg2"/>
            </a:solidFill>
            <a:prstDash val="solid"/>
          </a:ln>
        </p:spPr>
        <p:txBody>
          <a:bodyPr/>
          <a:lstStyle/>
          <a:p>
            <a:endParaRPr lang="vi-VN"/>
          </a:p>
        </p:txBody>
      </p:sp>
      <p:sp>
        <p:nvSpPr>
          <p:cNvPr id="33" name="Text 31"/>
          <p:cNvSpPr txBox="1"/>
          <p:nvPr/>
        </p:nvSpPr>
        <p:spPr>
          <a:xfrm>
            <a:off x="6583680" y="4837176"/>
            <a:ext cx="1554480" cy="47548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Data move</a:t>
            </a:r>
            <a:endParaRPr lang="en-US" sz="1400" dirty="0"/>
          </a:p>
        </p:txBody>
      </p:sp>
      <p:sp>
        <p:nvSpPr>
          <p:cNvPr id="34" name="Text 32"/>
          <p:cNvSpPr txBox="1"/>
          <p:nvPr/>
        </p:nvSpPr>
        <p:spPr>
          <a:xfrm>
            <a:off x="8138160" y="4837176"/>
            <a:ext cx="3383280" cy="475488"/>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LDI  MOV  LOAD  STORE</a:t>
            </a:r>
            <a:endParaRPr lang="en-US" sz="1400" dirty="0"/>
          </a:p>
        </p:txBody>
      </p:sp>
      <p:sp>
        <p:nvSpPr>
          <p:cNvPr id="35" name="Shape 33"/>
          <p:cNvSpPr/>
          <p:nvPr/>
        </p:nvSpPr>
        <p:spPr>
          <a:xfrm>
            <a:off x="6400800" y="5404104"/>
            <a:ext cx="5212080" cy="475488"/>
          </a:xfrm>
          <a:prstGeom prst="roundRect">
            <a:avLst>
              <a:gd name="adj" fmla="val 23077"/>
            </a:avLst>
          </a:prstGeom>
          <a:solidFill>
            <a:schemeClr val="bg2"/>
          </a:solidFill>
          <a:ln w="12700">
            <a:solidFill>
              <a:schemeClr val="bg2"/>
            </a:solidFill>
            <a:prstDash val="solid"/>
          </a:ln>
        </p:spPr>
        <p:txBody>
          <a:bodyPr/>
          <a:lstStyle/>
          <a:p>
            <a:endParaRPr lang="vi-VN"/>
          </a:p>
        </p:txBody>
      </p:sp>
      <p:sp>
        <p:nvSpPr>
          <p:cNvPr id="36" name="Text 34"/>
          <p:cNvSpPr txBox="1"/>
          <p:nvPr/>
        </p:nvSpPr>
        <p:spPr>
          <a:xfrm>
            <a:off x="6583680" y="5404104"/>
            <a:ext cx="1554480" cy="475488"/>
          </a:xfrm>
          <a:prstGeom prst="rect">
            <a:avLst/>
          </a:prstGeom>
          <a:noFill/>
          <a:ln/>
        </p:spPr>
        <p:txBody>
          <a:bodyPr wrap="square" lIns="0" tIns="0" rIns="0" bIns="0" rtlCol="0" anchor="ctr"/>
          <a:lstStyle/>
          <a:p>
            <a:pPr marL="0" indent="0">
              <a:buNone/>
            </a:pPr>
            <a:r>
              <a:rPr lang="en-US" sz="1400" b="1" dirty="0">
                <a:solidFill>
                  <a:schemeClr val="accent1"/>
                </a:solidFill>
                <a:latin typeface="Calibri" pitchFamily="34" charset="0"/>
                <a:ea typeface="Calibri" pitchFamily="34" charset="-122"/>
                <a:cs typeface="Calibri" pitchFamily="34" charset="-120"/>
              </a:rPr>
              <a:t>Control</a:t>
            </a:r>
            <a:endParaRPr lang="en-US" sz="1400" dirty="0"/>
          </a:p>
        </p:txBody>
      </p:sp>
      <p:sp>
        <p:nvSpPr>
          <p:cNvPr id="37" name="Text 35"/>
          <p:cNvSpPr txBox="1"/>
          <p:nvPr/>
        </p:nvSpPr>
        <p:spPr>
          <a:xfrm>
            <a:off x="8138160" y="5404104"/>
            <a:ext cx="3383280" cy="475488"/>
          </a:xfrm>
          <a:prstGeom prst="rect">
            <a:avLst/>
          </a:prstGeom>
          <a:noFill/>
          <a:ln/>
        </p:spPr>
        <p:txBody>
          <a:bodyPr wrap="square" lIns="0" tIns="0" rIns="0" bIns="0" rtlCol="0" anchor="ctr"/>
          <a:lstStyle/>
          <a:p>
            <a:pPr marL="0" indent="0">
              <a:buNone/>
            </a:pPr>
            <a:r>
              <a:rPr lang="en-US" sz="1400" dirty="0">
                <a:solidFill>
                  <a:schemeClr val="tx1"/>
                </a:solidFill>
                <a:latin typeface="Courier New" pitchFamily="34" charset="0"/>
                <a:ea typeface="Courier New" pitchFamily="34" charset="-122"/>
                <a:cs typeface="Courier New" pitchFamily="34" charset="-120"/>
              </a:rPr>
              <a:t>JMP  JZ</a:t>
            </a:r>
            <a:endParaRPr lang="en-US" sz="1400" dirty="0"/>
          </a:p>
        </p:txBody>
      </p:sp>
      <p:sp>
        <p:nvSpPr>
          <p:cNvPr id="38"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Two pipeline registers create three stages</a:t>
            </a:r>
            <a:endParaRPr lang="en-US" sz="3600" dirty="0"/>
          </a:p>
        </p:txBody>
      </p:sp>
      <p:pic>
        <p:nvPicPr>
          <p:cNvPr id="3" name="Image 0" descr="/home/claude/rep/c_block.png"/>
          <p:cNvPicPr>
            <a:picLocks noChangeAspect="1"/>
          </p:cNvPicPr>
          <p:nvPr/>
        </p:nvPicPr>
        <p:blipFill>
          <a:blip r:embed="rId3"/>
          <a:stretch>
            <a:fillRect/>
          </a:stretch>
        </p:blipFill>
        <p:spPr>
          <a:xfrm>
            <a:off x="548640" y="1463040"/>
            <a:ext cx="7498080" cy="3436620"/>
          </a:xfrm>
          <a:prstGeom prst="rect">
            <a:avLst/>
          </a:prstGeom>
        </p:spPr>
      </p:pic>
      <p:sp>
        <p:nvSpPr>
          <p:cNvPr id="4" name="Shape 1"/>
          <p:cNvSpPr/>
          <p:nvPr/>
        </p:nvSpPr>
        <p:spPr>
          <a:xfrm>
            <a:off x="8321040" y="1417320"/>
            <a:ext cx="3291840" cy="1325880"/>
          </a:xfrm>
          <a:prstGeom prst="roundRect">
            <a:avLst>
              <a:gd name="adj" fmla="val 8276"/>
            </a:avLst>
          </a:prstGeom>
          <a:solidFill>
            <a:schemeClr val="bg2"/>
          </a:solidFill>
          <a:ln w="12700">
            <a:solidFill>
              <a:schemeClr val="bg2"/>
            </a:solidFill>
            <a:prstDash val="solid"/>
          </a:ln>
        </p:spPr>
        <p:txBody>
          <a:bodyPr/>
          <a:lstStyle/>
          <a:p>
            <a:endParaRPr lang="vi-VN"/>
          </a:p>
        </p:txBody>
      </p:sp>
      <p:sp>
        <p:nvSpPr>
          <p:cNvPr id="5" name="Shape 2"/>
          <p:cNvSpPr/>
          <p:nvPr/>
        </p:nvSpPr>
        <p:spPr>
          <a:xfrm>
            <a:off x="8458200" y="1554480"/>
            <a:ext cx="548640" cy="548640"/>
          </a:xfrm>
          <a:prstGeom prst="ellipse">
            <a:avLst/>
          </a:prstGeom>
          <a:solidFill>
            <a:schemeClr val="accent1"/>
          </a:solidFill>
          <a:ln w="12700">
            <a:solidFill>
              <a:schemeClr val="accent1"/>
            </a:solidFill>
            <a:prstDash val="solid"/>
          </a:ln>
        </p:spPr>
        <p:txBody>
          <a:bodyPr/>
          <a:lstStyle/>
          <a:p>
            <a:endParaRPr lang="vi-VN"/>
          </a:p>
        </p:txBody>
      </p:sp>
      <p:sp>
        <p:nvSpPr>
          <p:cNvPr id="6" name="Text 3"/>
          <p:cNvSpPr txBox="1"/>
          <p:nvPr/>
        </p:nvSpPr>
        <p:spPr>
          <a:xfrm>
            <a:off x="8458200" y="1554480"/>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IF</a:t>
            </a:r>
            <a:endParaRPr lang="en-US" sz="1400" dirty="0"/>
          </a:p>
        </p:txBody>
      </p:sp>
      <p:sp>
        <p:nvSpPr>
          <p:cNvPr id="7" name="Text 4"/>
          <p:cNvSpPr txBox="1"/>
          <p:nvPr/>
        </p:nvSpPr>
        <p:spPr>
          <a:xfrm>
            <a:off x="9144000" y="1600200"/>
            <a:ext cx="237744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Fetch</a:t>
            </a:r>
            <a:endParaRPr lang="en-US" sz="1800" dirty="0"/>
          </a:p>
        </p:txBody>
      </p:sp>
      <p:sp>
        <p:nvSpPr>
          <p:cNvPr id="8" name="Text 5"/>
          <p:cNvSpPr txBox="1"/>
          <p:nvPr/>
        </p:nvSpPr>
        <p:spPr>
          <a:xfrm>
            <a:off x="8503920" y="2148840"/>
            <a:ext cx="3017520" cy="5669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PC addresses the instruction ROM; PC + 1 or jump target is selected by PC_MUX.</a:t>
            </a:r>
            <a:endParaRPr lang="en-US" sz="1200" dirty="0"/>
          </a:p>
        </p:txBody>
      </p:sp>
      <p:sp>
        <p:nvSpPr>
          <p:cNvPr id="9" name="Shape 6"/>
          <p:cNvSpPr/>
          <p:nvPr/>
        </p:nvSpPr>
        <p:spPr>
          <a:xfrm>
            <a:off x="8321040" y="2898648"/>
            <a:ext cx="3291840" cy="1325880"/>
          </a:xfrm>
          <a:prstGeom prst="roundRect">
            <a:avLst>
              <a:gd name="adj" fmla="val 8276"/>
            </a:avLst>
          </a:prstGeom>
          <a:solidFill>
            <a:schemeClr val="bg2"/>
          </a:solidFill>
          <a:ln w="12700">
            <a:solidFill>
              <a:schemeClr val="bg2"/>
            </a:solidFill>
            <a:prstDash val="solid"/>
          </a:ln>
        </p:spPr>
        <p:txBody>
          <a:bodyPr/>
          <a:lstStyle/>
          <a:p>
            <a:endParaRPr lang="vi-VN"/>
          </a:p>
        </p:txBody>
      </p:sp>
      <p:sp>
        <p:nvSpPr>
          <p:cNvPr id="10" name="Shape 7"/>
          <p:cNvSpPr/>
          <p:nvPr/>
        </p:nvSpPr>
        <p:spPr>
          <a:xfrm>
            <a:off x="8458200" y="3035808"/>
            <a:ext cx="548640" cy="548640"/>
          </a:xfrm>
          <a:prstGeom prst="ellipse">
            <a:avLst/>
          </a:prstGeom>
          <a:solidFill>
            <a:schemeClr val="accent3"/>
          </a:solidFill>
          <a:ln w="12700">
            <a:solidFill>
              <a:schemeClr val="accent3"/>
            </a:solidFill>
            <a:prstDash val="solid"/>
          </a:ln>
        </p:spPr>
        <p:txBody>
          <a:bodyPr/>
          <a:lstStyle/>
          <a:p>
            <a:endParaRPr lang="vi-VN"/>
          </a:p>
        </p:txBody>
      </p:sp>
      <p:sp>
        <p:nvSpPr>
          <p:cNvPr id="11" name="Text 8"/>
          <p:cNvSpPr txBox="1"/>
          <p:nvPr/>
        </p:nvSpPr>
        <p:spPr>
          <a:xfrm>
            <a:off x="8458200" y="3035808"/>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ID</a:t>
            </a:r>
            <a:endParaRPr lang="en-US" sz="1400" dirty="0"/>
          </a:p>
        </p:txBody>
      </p:sp>
      <p:sp>
        <p:nvSpPr>
          <p:cNvPr id="12" name="Text 9"/>
          <p:cNvSpPr txBox="1"/>
          <p:nvPr/>
        </p:nvSpPr>
        <p:spPr>
          <a:xfrm>
            <a:off x="9144000" y="3081528"/>
            <a:ext cx="237744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Decode</a:t>
            </a:r>
            <a:endParaRPr lang="en-US" sz="1800" dirty="0"/>
          </a:p>
        </p:txBody>
      </p:sp>
      <p:sp>
        <p:nvSpPr>
          <p:cNvPr id="13" name="Text 10"/>
          <p:cNvSpPr txBox="1"/>
          <p:nvPr/>
        </p:nvSpPr>
        <p:spPr>
          <a:xfrm>
            <a:off x="8503920" y="3630168"/>
            <a:ext cx="3017520" cy="5669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Combinational decoder with safe defaults: every opcode has a defined control word, no latches.</a:t>
            </a:r>
            <a:endParaRPr lang="en-US" sz="1200" dirty="0"/>
          </a:p>
        </p:txBody>
      </p:sp>
      <p:sp>
        <p:nvSpPr>
          <p:cNvPr id="14" name="Shape 11"/>
          <p:cNvSpPr/>
          <p:nvPr/>
        </p:nvSpPr>
        <p:spPr>
          <a:xfrm>
            <a:off x="8321040" y="4379976"/>
            <a:ext cx="3291840" cy="1325880"/>
          </a:xfrm>
          <a:prstGeom prst="roundRect">
            <a:avLst>
              <a:gd name="adj" fmla="val 8276"/>
            </a:avLst>
          </a:prstGeom>
          <a:solidFill>
            <a:schemeClr val="bg2"/>
          </a:solidFill>
          <a:ln w="12700">
            <a:solidFill>
              <a:schemeClr val="bg2"/>
            </a:solidFill>
            <a:prstDash val="solid"/>
          </a:ln>
        </p:spPr>
        <p:txBody>
          <a:bodyPr/>
          <a:lstStyle/>
          <a:p>
            <a:endParaRPr lang="vi-VN"/>
          </a:p>
        </p:txBody>
      </p:sp>
      <p:sp>
        <p:nvSpPr>
          <p:cNvPr id="15" name="Shape 12"/>
          <p:cNvSpPr/>
          <p:nvPr/>
        </p:nvSpPr>
        <p:spPr>
          <a:xfrm>
            <a:off x="8458200" y="4517136"/>
            <a:ext cx="548640" cy="548640"/>
          </a:xfrm>
          <a:prstGeom prst="ellipse">
            <a:avLst/>
          </a:prstGeom>
          <a:solidFill>
            <a:schemeClr val="accent2"/>
          </a:solidFill>
          <a:ln w="12700">
            <a:solidFill>
              <a:schemeClr val="accent2"/>
            </a:solidFill>
            <a:prstDash val="solid"/>
          </a:ln>
        </p:spPr>
        <p:txBody>
          <a:bodyPr/>
          <a:lstStyle/>
          <a:p>
            <a:endParaRPr lang="vi-VN"/>
          </a:p>
        </p:txBody>
      </p:sp>
      <p:sp>
        <p:nvSpPr>
          <p:cNvPr id="16" name="Text 13"/>
          <p:cNvSpPr txBox="1"/>
          <p:nvPr/>
        </p:nvSpPr>
        <p:spPr>
          <a:xfrm>
            <a:off x="8458200" y="4517136"/>
            <a:ext cx="548640" cy="548640"/>
          </a:xfrm>
          <a:prstGeom prst="rect">
            <a:avLst/>
          </a:prstGeom>
          <a:noFill/>
          <a:ln/>
        </p:spPr>
        <p:txBody>
          <a:bodyPr wrap="square" lIns="0" tIns="0" rIns="0" bIns="0" rtlCol="0" anchor="ctr"/>
          <a:lstStyle/>
          <a:p>
            <a:pPr marL="0" indent="0" algn="ctr">
              <a:buNone/>
            </a:pPr>
            <a:r>
              <a:rPr lang="en-US" sz="1400" b="1" dirty="0">
                <a:solidFill>
                  <a:schemeClr val="bg1"/>
                </a:solidFill>
                <a:latin typeface="Calibri" pitchFamily="34" charset="0"/>
                <a:ea typeface="Calibri" pitchFamily="34" charset="-122"/>
                <a:cs typeface="Calibri" pitchFamily="34" charset="-120"/>
              </a:rPr>
              <a:t>EX</a:t>
            </a:r>
            <a:endParaRPr lang="en-US" sz="1400" dirty="0"/>
          </a:p>
        </p:txBody>
      </p:sp>
      <p:sp>
        <p:nvSpPr>
          <p:cNvPr id="17" name="Text 14"/>
          <p:cNvSpPr txBox="1"/>
          <p:nvPr/>
        </p:nvSpPr>
        <p:spPr>
          <a:xfrm>
            <a:off x="9144000" y="4562856"/>
            <a:ext cx="2377440" cy="45720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Execute</a:t>
            </a:r>
            <a:endParaRPr lang="en-US" sz="1800" dirty="0"/>
          </a:p>
        </p:txBody>
      </p:sp>
      <p:sp>
        <p:nvSpPr>
          <p:cNvPr id="18" name="Text 15"/>
          <p:cNvSpPr txBox="1"/>
          <p:nvPr/>
        </p:nvSpPr>
        <p:spPr>
          <a:xfrm>
            <a:off x="8503920" y="5111496"/>
            <a:ext cx="3017520" cy="566928"/>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Register read, ALU, data memory, write-back, flag update and the jump decision.</a:t>
            </a:r>
            <a:endParaRPr lang="en-US" sz="1200" dirty="0"/>
          </a:p>
        </p:txBody>
      </p:sp>
      <p:sp>
        <p:nvSpPr>
          <p:cNvPr id="19" name="Text 16"/>
          <p:cNvSpPr txBox="1"/>
          <p:nvPr/>
        </p:nvSpPr>
        <p:spPr>
          <a:xfrm>
            <a:off x="548640" y="5120640"/>
            <a:ext cx="7498080" cy="365760"/>
          </a:xfrm>
          <a:prstGeom prst="rect">
            <a:avLst/>
          </a:prstGeom>
          <a:noFill/>
          <a:ln/>
        </p:spPr>
        <p:txBody>
          <a:bodyPr wrap="square" lIns="0" tIns="0" rIns="0" bIns="0" rtlCol="0" anchor="t"/>
          <a:lstStyle/>
          <a:p>
            <a:pPr marL="0" indent="0">
              <a:buNone/>
            </a:pPr>
            <a:r>
              <a:rPr lang="en-US" sz="1200" i="1" dirty="0">
                <a:solidFill>
                  <a:schemeClr val="accent6"/>
                </a:solidFill>
                <a:latin typeface="Calibri" pitchFamily="34" charset="0"/>
                <a:ea typeface="Calibri" pitchFamily="34" charset="-122"/>
                <a:cs typeface="Calibri" pitchFamily="34" charset="-120"/>
              </a:rPr>
              <a:t>Red dashed paths: the branch unit in EX drives pc_sel and flushes both pipeline registers.</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RTL schematic matches the planned datapath</a:t>
            </a:r>
            <a:endParaRPr lang="en-US" sz="3600" dirty="0"/>
          </a:p>
        </p:txBody>
      </p:sp>
      <p:sp>
        <p:nvSpPr>
          <p:cNvPr id="3" name="Shape 1"/>
          <p:cNvSpPr/>
          <p:nvPr/>
        </p:nvSpPr>
        <p:spPr>
          <a:xfrm>
            <a:off x="868680" y="1234440"/>
            <a:ext cx="10424160" cy="4745736"/>
          </a:xfrm>
          <a:prstGeom prst="rect">
            <a:avLst/>
          </a:prstGeom>
          <a:solidFill>
            <a:schemeClr val="bg1"/>
          </a:solidFill>
          <a:ln w="9525">
            <a:solidFill>
              <a:srgbClr val="CBD5E0"/>
            </a:solidFill>
            <a:prstDash val="solid"/>
          </a:ln>
        </p:spPr>
        <p:txBody>
          <a:bodyPr/>
          <a:lstStyle/>
          <a:p>
            <a:endParaRPr lang="vi-VN"/>
          </a:p>
        </p:txBody>
      </p:sp>
      <p:pic>
        <p:nvPicPr>
          <p:cNvPr id="4" name="Image 0" descr="/mnt/user-data/uploads/1791460503459_image.png"/>
          <p:cNvPicPr>
            <a:picLocks noChangeAspect="1"/>
          </p:cNvPicPr>
          <p:nvPr/>
        </p:nvPicPr>
        <p:blipFill>
          <a:blip r:embed="rId3"/>
          <a:stretch>
            <a:fillRect/>
          </a:stretch>
        </p:blipFill>
        <p:spPr>
          <a:xfrm>
            <a:off x="914400" y="1280160"/>
            <a:ext cx="10332720" cy="4701097"/>
          </a:xfrm>
          <a:prstGeom prst="rect">
            <a:avLst/>
          </a:prstGeom>
        </p:spPr>
      </p:pic>
      <p:sp>
        <p:nvSpPr>
          <p:cNvPr id="5" name="Shape 2"/>
          <p:cNvSpPr/>
          <p:nvPr/>
        </p:nvSpPr>
        <p:spPr>
          <a:xfrm>
            <a:off x="868680" y="6053328"/>
            <a:ext cx="1265530" cy="310896"/>
          </a:xfrm>
          <a:prstGeom prst="roundRect">
            <a:avLst>
              <a:gd name="adj" fmla="val 50000"/>
            </a:avLst>
          </a:prstGeom>
          <a:solidFill>
            <a:schemeClr val="bg2"/>
          </a:solidFill>
          <a:ln w="12700">
            <a:solidFill>
              <a:schemeClr val="bg2"/>
            </a:solidFill>
            <a:prstDash val="solid"/>
          </a:ln>
        </p:spPr>
        <p:txBody>
          <a:bodyPr/>
          <a:lstStyle/>
          <a:p>
            <a:endParaRPr lang="vi-VN"/>
          </a:p>
        </p:txBody>
      </p:sp>
      <p:sp>
        <p:nvSpPr>
          <p:cNvPr id="6" name="Text 3"/>
          <p:cNvSpPr txBox="1"/>
          <p:nvPr/>
        </p:nvSpPr>
        <p:spPr>
          <a:xfrm>
            <a:off x="868680" y="6053328"/>
            <a:ext cx="1265530" cy="310896"/>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13 instances</a:t>
            </a:r>
            <a:endParaRPr lang="en-US" sz="1100" dirty="0"/>
          </a:p>
        </p:txBody>
      </p:sp>
      <p:sp>
        <p:nvSpPr>
          <p:cNvPr id="7" name="Shape 4"/>
          <p:cNvSpPr/>
          <p:nvPr/>
        </p:nvSpPr>
        <p:spPr>
          <a:xfrm>
            <a:off x="2271370" y="6053328"/>
            <a:ext cx="2695651" cy="310896"/>
          </a:xfrm>
          <a:prstGeom prst="roundRect">
            <a:avLst>
              <a:gd name="adj" fmla="val 50000"/>
            </a:avLst>
          </a:prstGeom>
          <a:solidFill>
            <a:schemeClr val="bg2"/>
          </a:solidFill>
          <a:ln w="12700">
            <a:solidFill>
              <a:schemeClr val="bg2"/>
            </a:solidFill>
            <a:prstDash val="solid"/>
          </a:ln>
        </p:spPr>
        <p:txBody>
          <a:bodyPr/>
          <a:lstStyle/>
          <a:p>
            <a:endParaRPr lang="vi-VN"/>
          </a:p>
        </p:txBody>
      </p:sp>
      <p:sp>
        <p:nvSpPr>
          <p:cNvPr id="8" name="Text 5"/>
          <p:cNvSpPr txBox="1"/>
          <p:nvPr/>
        </p:nvSpPr>
        <p:spPr>
          <a:xfrm>
            <a:off x="2271370" y="6053328"/>
            <a:ext cx="2695651" cy="310896"/>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IR + ID_EX pipeline registers</a:t>
            </a:r>
            <a:endParaRPr lang="en-US" sz="1100" dirty="0"/>
          </a:p>
        </p:txBody>
      </p:sp>
      <p:sp>
        <p:nvSpPr>
          <p:cNvPr id="9" name="Shape 6"/>
          <p:cNvSpPr/>
          <p:nvPr/>
        </p:nvSpPr>
        <p:spPr>
          <a:xfrm>
            <a:off x="5104181" y="6053328"/>
            <a:ext cx="2106778" cy="310896"/>
          </a:xfrm>
          <a:prstGeom prst="roundRect">
            <a:avLst>
              <a:gd name="adj" fmla="val 50000"/>
            </a:avLst>
          </a:prstGeom>
          <a:solidFill>
            <a:schemeClr val="bg2"/>
          </a:solidFill>
          <a:ln w="12700">
            <a:solidFill>
              <a:schemeClr val="bg2"/>
            </a:solidFill>
            <a:prstDash val="solid"/>
          </a:ln>
        </p:spPr>
        <p:txBody>
          <a:bodyPr/>
          <a:lstStyle/>
          <a:p>
            <a:endParaRPr lang="vi-VN"/>
          </a:p>
        </p:txBody>
      </p:sp>
      <p:sp>
        <p:nvSpPr>
          <p:cNvPr id="10" name="Text 7"/>
          <p:cNvSpPr txBox="1"/>
          <p:nvPr/>
        </p:nvSpPr>
        <p:spPr>
          <a:xfrm>
            <a:off x="5104181" y="6053328"/>
            <a:ext cx="2106778" cy="310896"/>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Hardwired control unit</a:t>
            </a:r>
            <a:endParaRPr lang="en-US" sz="1100" dirty="0"/>
          </a:p>
        </p:txBody>
      </p:sp>
      <p:sp>
        <p:nvSpPr>
          <p:cNvPr id="11" name="Shape 8"/>
          <p:cNvSpPr/>
          <p:nvPr/>
        </p:nvSpPr>
        <p:spPr>
          <a:xfrm>
            <a:off x="7348118" y="6053328"/>
            <a:ext cx="1854403" cy="310896"/>
          </a:xfrm>
          <a:prstGeom prst="roundRect">
            <a:avLst>
              <a:gd name="adj" fmla="val 50000"/>
            </a:avLst>
          </a:prstGeom>
          <a:solidFill>
            <a:schemeClr val="bg2"/>
          </a:solidFill>
          <a:ln w="12700">
            <a:solidFill>
              <a:schemeClr val="bg2"/>
            </a:solidFill>
            <a:prstDash val="solid"/>
          </a:ln>
        </p:spPr>
        <p:txBody>
          <a:bodyPr/>
          <a:lstStyle/>
          <a:p>
            <a:endParaRPr lang="vi-VN"/>
          </a:p>
        </p:txBody>
      </p:sp>
      <p:sp>
        <p:nvSpPr>
          <p:cNvPr id="12" name="Text 9"/>
          <p:cNvSpPr txBox="1"/>
          <p:nvPr/>
        </p:nvSpPr>
        <p:spPr>
          <a:xfrm>
            <a:off x="7348118" y="6053328"/>
            <a:ext cx="1854403" cy="310896"/>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Harvard IMEM / DMEM</a:t>
            </a:r>
            <a:endParaRPr lang="en-US" sz="1100" dirty="0"/>
          </a:p>
        </p:txBody>
      </p:sp>
      <p:sp>
        <p:nvSpPr>
          <p:cNvPr id="13" name="Shape 10"/>
          <p:cNvSpPr/>
          <p:nvPr/>
        </p:nvSpPr>
        <p:spPr>
          <a:xfrm>
            <a:off x="9339682" y="6053328"/>
            <a:ext cx="3116275" cy="310896"/>
          </a:xfrm>
          <a:prstGeom prst="roundRect">
            <a:avLst>
              <a:gd name="adj" fmla="val 50000"/>
            </a:avLst>
          </a:prstGeom>
          <a:solidFill>
            <a:schemeClr val="bg2"/>
          </a:solidFill>
          <a:ln w="12700">
            <a:solidFill>
              <a:schemeClr val="bg2"/>
            </a:solidFill>
            <a:prstDash val="solid"/>
          </a:ln>
        </p:spPr>
        <p:txBody>
          <a:bodyPr/>
          <a:lstStyle/>
          <a:p>
            <a:endParaRPr lang="vi-VN"/>
          </a:p>
        </p:txBody>
      </p:sp>
      <p:sp>
        <p:nvSpPr>
          <p:cNvPr id="14" name="Text 11"/>
          <p:cNvSpPr txBox="1"/>
          <p:nvPr/>
        </p:nvSpPr>
        <p:spPr>
          <a:xfrm>
            <a:off x="9339682" y="6053328"/>
            <a:ext cx="3116275" cy="310896"/>
          </a:xfrm>
          <a:prstGeom prst="rect">
            <a:avLst/>
          </a:prstGeom>
          <a:noFill/>
          <a:ln/>
        </p:spPr>
        <p:txBody>
          <a:bodyPr wrap="square" lIns="0" tIns="0" rIns="0" bIns="0" rtlCol="0" anchor="ctr"/>
          <a:lstStyle/>
          <a:p>
            <a:pPr marL="0" indent="0" algn="ctr">
              <a:buNone/>
            </a:pPr>
            <a:r>
              <a:rPr lang="en-US" sz="1100" b="1" dirty="0">
                <a:solidFill>
                  <a:schemeClr val="tx2"/>
                </a:solidFill>
                <a:latin typeface="Calibri" pitchFamily="34" charset="0"/>
                <a:ea typeface="Calibri" pitchFamily="34" charset="-122"/>
                <a:cs typeface="Calibri" pitchFamily="34" charset="-120"/>
              </a:rPr>
              <a:t>3 × mux2 (operand, write-back, PC)</a:t>
            </a:r>
            <a:endParaRPr lang="en-US" sz="11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All three hazards handled by construction</a:t>
            </a:r>
            <a:endParaRPr lang="en-US" sz="3600" dirty="0"/>
          </a:p>
        </p:txBody>
      </p:sp>
      <p:sp>
        <p:nvSpPr>
          <p:cNvPr id="3" name="Shape 1"/>
          <p:cNvSpPr/>
          <p:nvPr/>
        </p:nvSpPr>
        <p:spPr>
          <a:xfrm>
            <a:off x="548640" y="1325880"/>
            <a:ext cx="35204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4" name="Shape 2"/>
          <p:cNvSpPr/>
          <p:nvPr/>
        </p:nvSpPr>
        <p:spPr>
          <a:xfrm>
            <a:off x="731520" y="1481328"/>
            <a:ext cx="640080" cy="640080"/>
          </a:xfrm>
          <a:prstGeom prst="ellipse">
            <a:avLst/>
          </a:prstGeom>
          <a:solidFill>
            <a:schemeClr val="accent1"/>
          </a:solidFill>
          <a:ln w="12700">
            <a:solidFill>
              <a:schemeClr val="accent1"/>
            </a:solidFill>
            <a:prstDash val="solid"/>
          </a:ln>
        </p:spPr>
        <p:txBody>
          <a:bodyPr/>
          <a:lstStyle/>
          <a:p>
            <a:endParaRPr lang="vi-VN"/>
          </a:p>
        </p:txBody>
      </p:sp>
      <p:pic>
        <p:nvPicPr>
          <p:cNvPr id="5" name="Image 0" descr="preencoded.png"/>
          <p:cNvPicPr>
            <a:picLocks noChangeAspect="1"/>
          </p:cNvPicPr>
          <p:nvPr/>
        </p:nvPicPr>
        <p:blipFill>
          <a:blip r:embed="rId3"/>
          <a:stretch>
            <a:fillRect/>
          </a:stretch>
        </p:blipFill>
        <p:spPr>
          <a:xfrm>
            <a:off x="891540" y="1641348"/>
            <a:ext cx="320040" cy="320040"/>
          </a:xfrm>
          <a:prstGeom prst="rect">
            <a:avLst/>
          </a:prstGeom>
        </p:spPr>
      </p:pic>
      <p:sp>
        <p:nvSpPr>
          <p:cNvPr id="6" name="Text 3"/>
          <p:cNvSpPr txBox="1"/>
          <p:nvPr/>
        </p:nvSpPr>
        <p:spPr>
          <a:xfrm>
            <a:off x="1508760" y="1508760"/>
            <a:ext cx="1463040" cy="566928"/>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Structural</a:t>
            </a:r>
            <a:endParaRPr lang="en-US" sz="1800" dirty="0"/>
          </a:p>
        </p:txBody>
      </p:sp>
      <p:sp>
        <p:nvSpPr>
          <p:cNvPr id="7" name="Text 4"/>
          <p:cNvSpPr txBox="1"/>
          <p:nvPr/>
        </p:nvSpPr>
        <p:spPr>
          <a:xfrm>
            <a:off x="2880360" y="1508760"/>
            <a:ext cx="1051560" cy="566928"/>
          </a:xfrm>
          <a:prstGeom prst="rect">
            <a:avLst/>
          </a:prstGeom>
          <a:noFill/>
          <a:ln/>
        </p:spPr>
        <p:txBody>
          <a:bodyPr wrap="square" lIns="0" tIns="0" rIns="0" bIns="0" rtlCol="0" anchor="ctr"/>
          <a:lstStyle/>
          <a:p>
            <a:pPr marL="0" indent="0" algn="r">
              <a:buNone/>
            </a:pPr>
            <a:r>
              <a:rPr lang="en-US" sz="1400" b="1" dirty="0">
                <a:solidFill>
                  <a:schemeClr val="accent1"/>
                </a:solidFill>
                <a:latin typeface="Calibri" pitchFamily="34" charset="0"/>
                <a:ea typeface="Calibri" pitchFamily="34" charset="-122"/>
                <a:cs typeface="Calibri" pitchFamily="34" charset="-120"/>
              </a:rPr>
              <a:t>0 cycles</a:t>
            </a:r>
            <a:endParaRPr lang="en-US" sz="1400" dirty="0"/>
          </a:p>
        </p:txBody>
      </p:sp>
      <p:sp>
        <p:nvSpPr>
          <p:cNvPr id="8" name="Text 5"/>
          <p:cNvSpPr txBox="1"/>
          <p:nvPr/>
        </p:nvSpPr>
        <p:spPr>
          <a:xfrm>
            <a:off x="731520" y="2286000"/>
            <a:ext cx="3200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Separate instruction and data memories (Harvard)</a:t>
            </a:r>
            <a:endParaRPr lang="en-US" sz="1400" dirty="0"/>
          </a:p>
        </p:txBody>
      </p:sp>
      <p:sp>
        <p:nvSpPr>
          <p:cNvPr id="9" name="Shape 6"/>
          <p:cNvSpPr/>
          <p:nvPr/>
        </p:nvSpPr>
        <p:spPr>
          <a:xfrm>
            <a:off x="4325112" y="1325880"/>
            <a:ext cx="35204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10" name="Shape 7"/>
          <p:cNvSpPr/>
          <p:nvPr/>
        </p:nvSpPr>
        <p:spPr>
          <a:xfrm>
            <a:off x="4507992" y="1481328"/>
            <a:ext cx="640080" cy="640080"/>
          </a:xfrm>
          <a:prstGeom prst="ellipse">
            <a:avLst/>
          </a:prstGeom>
          <a:solidFill>
            <a:schemeClr val="accent3"/>
          </a:solidFill>
          <a:ln w="12700">
            <a:solidFill>
              <a:schemeClr val="accent3"/>
            </a:solidFill>
            <a:prstDash val="solid"/>
          </a:ln>
        </p:spPr>
        <p:txBody>
          <a:bodyPr/>
          <a:lstStyle/>
          <a:p>
            <a:endParaRPr lang="vi-VN"/>
          </a:p>
        </p:txBody>
      </p:sp>
      <p:pic>
        <p:nvPicPr>
          <p:cNvPr id="11" name="Image 1" descr="preencoded.png"/>
          <p:cNvPicPr>
            <a:picLocks noChangeAspect="1"/>
          </p:cNvPicPr>
          <p:nvPr/>
        </p:nvPicPr>
        <p:blipFill>
          <a:blip r:embed="rId4"/>
          <a:stretch>
            <a:fillRect/>
          </a:stretch>
        </p:blipFill>
        <p:spPr>
          <a:xfrm>
            <a:off x="4668012" y="1641348"/>
            <a:ext cx="320040" cy="320040"/>
          </a:xfrm>
          <a:prstGeom prst="rect">
            <a:avLst/>
          </a:prstGeom>
        </p:spPr>
      </p:pic>
      <p:sp>
        <p:nvSpPr>
          <p:cNvPr id="12" name="Text 8"/>
          <p:cNvSpPr txBox="1"/>
          <p:nvPr/>
        </p:nvSpPr>
        <p:spPr>
          <a:xfrm>
            <a:off x="5285232" y="1508760"/>
            <a:ext cx="1463040" cy="566928"/>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Data (RAW)</a:t>
            </a:r>
            <a:endParaRPr lang="en-US" sz="1800" dirty="0"/>
          </a:p>
        </p:txBody>
      </p:sp>
      <p:sp>
        <p:nvSpPr>
          <p:cNvPr id="13" name="Text 9"/>
          <p:cNvSpPr txBox="1"/>
          <p:nvPr/>
        </p:nvSpPr>
        <p:spPr>
          <a:xfrm>
            <a:off x="6656832" y="1508760"/>
            <a:ext cx="1051560" cy="566928"/>
          </a:xfrm>
          <a:prstGeom prst="rect">
            <a:avLst/>
          </a:prstGeom>
          <a:noFill/>
          <a:ln/>
        </p:spPr>
        <p:txBody>
          <a:bodyPr wrap="square" lIns="0" tIns="0" rIns="0" bIns="0" rtlCol="0" anchor="ctr"/>
          <a:lstStyle/>
          <a:p>
            <a:pPr marL="0" indent="0" algn="r">
              <a:buNone/>
            </a:pPr>
            <a:r>
              <a:rPr lang="en-US" sz="1400" b="1" dirty="0">
                <a:solidFill>
                  <a:schemeClr val="accent3"/>
                </a:solidFill>
                <a:latin typeface="Calibri" pitchFamily="34" charset="0"/>
                <a:ea typeface="Calibri" pitchFamily="34" charset="-122"/>
                <a:cs typeface="Calibri" pitchFamily="34" charset="-120"/>
              </a:rPr>
              <a:t>0 cycles</a:t>
            </a:r>
            <a:endParaRPr lang="en-US" sz="1400" dirty="0"/>
          </a:p>
        </p:txBody>
      </p:sp>
      <p:sp>
        <p:nvSpPr>
          <p:cNvPr id="14" name="Text 10"/>
          <p:cNvSpPr txBox="1"/>
          <p:nvPr/>
        </p:nvSpPr>
        <p:spPr>
          <a:xfrm>
            <a:off x="4507992" y="2286000"/>
            <a:ext cx="3200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Registers read in EX, one cycle after the previous write</a:t>
            </a:r>
            <a:endParaRPr lang="en-US" sz="1400" dirty="0"/>
          </a:p>
        </p:txBody>
      </p:sp>
      <p:sp>
        <p:nvSpPr>
          <p:cNvPr id="15" name="Shape 11"/>
          <p:cNvSpPr/>
          <p:nvPr/>
        </p:nvSpPr>
        <p:spPr>
          <a:xfrm>
            <a:off x="8101584" y="1325880"/>
            <a:ext cx="3520440" cy="1783080"/>
          </a:xfrm>
          <a:prstGeom prst="roundRect">
            <a:avLst>
              <a:gd name="adj" fmla="val 6154"/>
            </a:avLst>
          </a:prstGeom>
          <a:solidFill>
            <a:schemeClr val="bg2"/>
          </a:solidFill>
          <a:ln w="12700">
            <a:solidFill>
              <a:schemeClr val="bg2"/>
            </a:solidFill>
            <a:prstDash val="solid"/>
          </a:ln>
        </p:spPr>
        <p:txBody>
          <a:bodyPr/>
          <a:lstStyle/>
          <a:p>
            <a:endParaRPr lang="vi-VN"/>
          </a:p>
        </p:txBody>
      </p:sp>
      <p:sp>
        <p:nvSpPr>
          <p:cNvPr id="16" name="Shape 12"/>
          <p:cNvSpPr/>
          <p:nvPr/>
        </p:nvSpPr>
        <p:spPr>
          <a:xfrm>
            <a:off x="8284464" y="1481328"/>
            <a:ext cx="640080" cy="640080"/>
          </a:xfrm>
          <a:prstGeom prst="ellipse">
            <a:avLst/>
          </a:prstGeom>
          <a:solidFill>
            <a:schemeClr val="accent2"/>
          </a:solidFill>
          <a:ln w="12700">
            <a:solidFill>
              <a:schemeClr val="accent2"/>
            </a:solidFill>
            <a:prstDash val="solid"/>
          </a:ln>
        </p:spPr>
        <p:txBody>
          <a:bodyPr/>
          <a:lstStyle/>
          <a:p>
            <a:endParaRPr lang="vi-VN"/>
          </a:p>
        </p:txBody>
      </p:sp>
      <p:pic>
        <p:nvPicPr>
          <p:cNvPr id="17" name="Image 2" descr="preencoded.png"/>
          <p:cNvPicPr>
            <a:picLocks noChangeAspect="1"/>
          </p:cNvPicPr>
          <p:nvPr/>
        </p:nvPicPr>
        <p:blipFill>
          <a:blip r:embed="rId5"/>
          <a:stretch>
            <a:fillRect/>
          </a:stretch>
        </p:blipFill>
        <p:spPr>
          <a:xfrm>
            <a:off x="8444484" y="1641348"/>
            <a:ext cx="320040" cy="320040"/>
          </a:xfrm>
          <a:prstGeom prst="rect">
            <a:avLst/>
          </a:prstGeom>
        </p:spPr>
      </p:pic>
      <p:sp>
        <p:nvSpPr>
          <p:cNvPr id="18" name="Text 13"/>
          <p:cNvSpPr txBox="1"/>
          <p:nvPr/>
        </p:nvSpPr>
        <p:spPr>
          <a:xfrm>
            <a:off x="9061704" y="1508760"/>
            <a:ext cx="1463040" cy="566928"/>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Control</a:t>
            </a:r>
            <a:endParaRPr lang="en-US" sz="1800" dirty="0"/>
          </a:p>
        </p:txBody>
      </p:sp>
      <p:sp>
        <p:nvSpPr>
          <p:cNvPr id="19" name="Text 14"/>
          <p:cNvSpPr txBox="1"/>
          <p:nvPr/>
        </p:nvSpPr>
        <p:spPr>
          <a:xfrm>
            <a:off x="10433304" y="1508760"/>
            <a:ext cx="1051560" cy="566928"/>
          </a:xfrm>
          <a:prstGeom prst="rect">
            <a:avLst/>
          </a:prstGeom>
          <a:noFill/>
          <a:ln/>
        </p:spPr>
        <p:txBody>
          <a:bodyPr wrap="square" lIns="0" tIns="0" rIns="0" bIns="0" rtlCol="0" anchor="ctr"/>
          <a:lstStyle/>
          <a:p>
            <a:pPr marL="0" indent="0" algn="r">
              <a:buNone/>
            </a:pPr>
            <a:r>
              <a:rPr lang="en-US" sz="1400" b="1" dirty="0">
                <a:solidFill>
                  <a:schemeClr val="accent2"/>
                </a:solidFill>
                <a:latin typeface="Calibri" pitchFamily="34" charset="0"/>
                <a:ea typeface="Calibri" pitchFamily="34" charset="-122"/>
                <a:cs typeface="Calibri" pitchFamily="34" charset="-120"/>
              </a:rPr>
              <a:t>2 bubbles</a:t>
            </a:r>
            <a:endParaRPr lang="en-US" sz="1400" dirty="0"/>
          </a:p>
        </p:txBody>
      </p:sp>
      <p:sp>
        <p:nvSpPr>
          <p:cNvPr id="20" name="Text 15"/>
          <p:cNvSpPr txBox="1"/>
          <p:nvPr/>
        </p:nvSpPr>
        <p:spPr>
          <a:xfrm>
            <a:off x="8284464" y="2286000"/>
            <a:ext cx="320040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Jump decided in EX; IF/ID and ID/EX flushed</a:t>
            </a:r>
            <a:endParaRPr lang="en-US" sz="1400" dirty="0"/>
          </a:p>
        </p:txBody>
      </p:sp>
      <p:pic>
        <p:nvPicPr>
          <p:cNvPr id="21" name="Image 3" descr="/home/claude/rep/c_pipe.png"/>
          <p:cNvPicPr>
            <a:picLocks noChangeAspect="1"/>
          </p:cNvPicPr>
          <p:nvPr/>
        </p:nvPicPr>
        <p:blipFill>
          <a:blip r:embed="rId6"/>
          <a:stretch>
            <a:fillRect/>
          </a:stretch>
        </p:blipFill>
        <p:spPr>
          <a:xfrm>
            <a:off x="1463040" y="3337560"/>
            <a:ext cx="9235440" cy="3028505"/>
          </a:xfrm>
          <a:prstGeom prst="rect">
            <a:avLst/>
          </a:prstGeom>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Waveform: 2-stage offset and clean flush</a:t>
            </a:r>
            <a:endParaRPr lang="en-US" sz="3600" dirty="0"/>
          </a:p>
        </p:txBody>
      </p:sp>
      <p:sp>
        <p:nvSpPr>
          <p:cNvPr id="3" name="Shape 1"/>
          <p:cNvSpPr/>
          <p:nvPr/>
        </p:nvSpPr>
        <p:spPr>
          <a:xfrm>
            <a:off x="868680" y="1234440"/>
            <a:ext cx="10424160" cy="4370832"/>
          </a:xfrm>
          <a:prstGeom prst="rect">
            <a:avLst/>
          </a:prstGeom>
          <a:solidFill>
            <a:schemeClr val="bg1"/>
          </a:solidFill>
          <a:ln w="9525">
            <a:solidFill>
              <a:srgbClr val="CBD5E0"/>
            </a:solidFill>
            <a:prstDash val="solid"/>
          </a:ln>
        </p:spPr>
        <p:txBody>
          <a:bodyPr/>
          <a:lstStyle/>
          <a:p>
            <a:endParaRPr lang="vi-VN"/>
          </a:p>
        </p:txBody>
      </p:sp>
      <p:pic>
        <p:nvPicPr>
          <p:cNvPr id="4" name="Image 0" descr="/mnt/user-data/uploads/1791460766961_image.png"/>
          <p:cNvPicPr>
            <a:picLocks noChangeAspect="1"/>
          </p:cNvPicPr>
          <p:nvPr/>
        </p:nvPicPr>
        <p:blipFill>
          <a:blip r:embed="rId3"/>
          <a:stretch>
            <a:fillRect/>
          </a:stretch>
        </p:blipFill>
        <p:spPr>
          <a:xfrm>
            <a:off x="914400" y="1280160"/>
            <a:ext cx="10332720" cy="4283118"/>
          </a:xfrm>
          <a:prstGeom prst="rect">
            <a:avLst/>
          </a:prstGeom>
        </p:spPr>
      </p:pic>
      <p:sp>
        <p:nvSpPr>
          <p:cNvPr id="5" name="Shape 2"/>
          <p:cNvSpPr/>
          <p:nvPr/>
        </p:nvSpPr>
        <p:spPr>
          <a:xfrm>
            <a:off x="868680" y="5715000"/>
            <a:ext cx="3346704" cy="594360"/>
          </a:xfrm>
          <a:prstGeom prst="roundRect">
            <a:avLst>
              <a:gd name="adj" fmla="val 18462"/>
            </a:avLst>
          </a:prstGeom>
          <a:solidFill>
            <a:schemeClr val="bg2"/>
          </a:solidFill>
          <a:ln w="12700">
            <a:solidFill>
              <a:schemeClr val="bg2"/>
            </a:solidFill>
            <a:prstDash val="solid"/>
          </a:ln>
        </p:spPr>
        <p:txBody>
          <a:bodyPr/>
          <a:lstStyle/>
          <a:p>
            <a:endParaRPr lang="vi-VN"/>
          </a:p>
        </p:txBody>
      </p:sp>
      <p:sp>
        <p:nvSpPr>
          <p:cNvPr id="6" name="Text 3"/>
          <p:cNvSpPr txBox="1"/>
          <p:nvPr/>
        </p:nvSpPr>
        <p:spPr>
          <a:xfrm>
            <a:off x="1005840" y="5715000"/>
            <a:ext cx="3108960" cy="59436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Pipeline fill:  </a:t>
            </a:r>
            <a:r>
              <a:rPr lang="en-US" sz="1200" dirty="0">
                <a:solidFill>
                  <a:schemeClr val="tx1"/>
                </a:solidFill>
                <a:latin typeface="Calibri" pitchFamily="34" charset="0"/>
                <a:ea typeface="Calibri" pitchFamily="34" charset="-122"/>
                <a:cs typeface="Calibri" pitchFamily="34" charset="-120"/>
              </a:rPr>
              <a:t>pc_out = 2 while 0x645 (address 0) is in EX</a:t>
            </a:r>
            <a:endParaRPr lang="en-US" sz="1200" dirty="0"/>
          </a:p>
        </p:txBody>
      </p:sp>
      <p:sp>
        <p:nvSpPr>
          <p:cNvPr id="7" name="Shape 4"/>
          <p:cNvSpPr/>
          <p:nvPr/>
        </p:nvSpPr>
        <p:spPr>
          <a:xfrm>
            <a:off x="4407408" y="5715000"/>
            <a:ext cx="3346704" cy="594360"/>
          </a:xfrm>
          <a:prstGeom prst="roundRect">
            <a:avLst>
              <a:gd name="adj" fmla="val 18462"/>
            </a:avLst>
          </a:prstGeom>
          <a:solidFill>
            <a:schemeClr val="bg2"/>
          </a:solidFill>
          <a:ln w="12700">
            <a:solidFill>
              <a:schemeClr val="bg2"/>
            </a:solidFill>
            <a:prstDash val="solid"/>
          </a:ln>
        </p:spPr>
        <p:txBody>
          <a:bodyPr/>
          <a:lstStyle/>
          <a:p>
            <a:endParaRPr lang="vi-VN"/>
          </a:p>
        </p:txBody>
      </p:sp>
      <p:sp>
        <p:nvSpPr>
          <p:cNvPr id="8" name="Text 5"/>
          <p:cNvSpPr txBox="1"/>
          <p:nvPr/>
        </p:nvSpPr>
        <p:spPr>
          <a:xfrm>
            <a:off x="4544568" y="5715000"/>
            <a:ext cx="3108960" cy="59436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JMP 5:  </a:t>
            </a:r>
            <a:r>
              <a:rPr lang="en-US" sz="1200" dirty="0">
                <a:solidFill>
                  <a:schemeClr val="tx1"/>
                </a:solidFill>
                <a:latin typeface="Calibri" pitchFamily="34" charset="0"/>
                <a:ea typeface="Calibri" pitchFamily="34" charset="-122"/>
                <a:cs typeface="Calibri" pitchFamily="34" charset="-120"/>
              </a:rPr>
              <a:t>PC 7 → 5, then two 0xC00 bubbles</a:t>
            </a:r>
            <a:endParaRPr lang="en-US" sz="1200" dirty="0"/>
          </a:p>
        </p:txBody>
      </p:sp>
      <p:sp>
        <p:nvSpPr>
          <p:cNvPr id="9" name="Shape 6"/>
          <p:cNvSpPr/>
          <p:nvPr/>
        </p:nvSpPr>
        <p:spPr>
          <a:xfrm>
            <a:off x="7946136" y="5715000"/>
            <a:ext cx="3346704" cy="594360"/>
          </a:xfrm>
          <a:prstGeom prst="roundRect">
            <a:avLst>
              <a:gd name="adj" fmla="val 18462"/>
            </a:avLst>
          </a:prstGeom>
          <a:solidFill>
            <a:schemeClr val="bg2"/>
          </a:solidFill>
          <a:ln w="12700">
            <a:solidFill>
              <a:schemeClr val="bg2"/>
            </a:solidFill>
            <a:prstDash val="solid"/>
          </a:ln>
        </p:spPr>
        <p:txBody>
          <a:bodyPr/>
          <a:lstStyle/>
          <a:p>
            <a:endParaRPr lang="vi-VN"/>
          </a:p>
        </p:txBody>
      </p:sp>
      <p:sp>
        <p:nvSpPr>
          <p:cNvPr id="10" name="Text 7"/>
          <p:cNvSpPr txBox="1"/>
          <p:nvPr/>
        </p:nvSpPr>
        <p:spPr>
          <a:xfrm>
            <a:off x="8083296" y="5715000"/>
            <a:ext cx="3108960" cy="594360"/>
          </a:xfrm>
          <a:prstGeom prst="rect">
            <a:avLst/>
          </a:prstGeom>
          <a:noFill/>
          <a:ln/>
        </p:spPr>
        <p:txBody>
          <a:bodyPr wrap="square" lIns="0" tIns="0" rIns="0" bIns="0" rtlCol="0" anchor="ctr"/>
          <a:lstStyle/>
          <a:p>
            <a:pPr marL="0" indent="0">
              <a:buNone/>
            </a:pPr>
            <a:r>
              <a:rPr lang="en-US" sz="1200" b="1" dirty="0">
                <a:solidFill>
                  <a:schemeClr val="accent1"/>
                </a:solidFill>
                <a:latin typeface="Calibri" pitchFamily="34" charset="0"/>
                <a:ea typeface="Calibri" pitchFamily="34" charset="-122"/>
                <a:cs typeface="Calibri" pitchFamily="34" charset="-120"/>
              </a:rPr>
              <a:t>Scoreboard:  </a:t>
            </a:r>
            <a:r>
              <a:rPr lang="en-US" sz="1200" dirty="0">
                <a:solidFill>
                  <a:schemeClr val="tx1"/>
                </a:solidFill>
                <a:latin typeface="Calibri" pitchFamily="34" charset="0"/>
                <a:ea typeface="Calibri" pitchFamily="34" charset="-122"/>
                <a:cs typeface="Calibri" pitchFamily="34" charset="-120"/>
              </a:rPr>
              <a:t>errors = 0 for the whole run</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44 of 44 self-checks passed with zero errors</a:t>
            </a:r>
            <a:endParaRPr lang="en-US" sz="3600" dirty="0"/>
          </a:p>
        </p:txBody>
      </p:sp>
      <p:graphicFrame>
        <p:nvGraphicFramePr>
          <p:cNvPr id="3" name="Chart 0"/>
          <p:cNvGraphicFramePr/>
          <p:nvPr/>
        </p:nvGraphicFramePr>
        <p:xfrm>
          <a:off x="548640" y="1325880"/>
          <a:ext cx="603504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6949440" y="1371600"/>
            <a:ext cx="4663440" cy="621792"/>
          </a:xfrm>
          <a:prstGeom prst="roundRect">
            <a:avLst>
              <a:gd name="adj" fmla="val 17647"/>
            </a:avLst>
          </a:prstGeom>
          <a:solidFill>
            <a:schemeClr val="bg2"/>
          </a:solidFill>
          <a:ln w="12700">
            <a:solidFill>
              <a:schemeClr val="bg2"/>
            </a:solidFill>
            <a:prstDash val="solid"/>
          </a:ln>
        </p:spPr>
        <p:txBody>
          <a:bodyPr/>
          <a:lstStyle/>
          <a:p>
            <a:endParaRPr lang="vi-VN"/>
          </a:p>
        </p:txBody>
      </p:sp>
      <p:sp>
        <p:nvSpPr>
          <p:cNvPr id="5" name="Text 2"/>
          <p:cNvSpPr txBox="1"/>
          <p:nvPr/>
        </p:nvSpPr>
        <p:spPr>
          <a:xfrm>
            <a:off x="7086600" y="1371600"/>
            <a:ext cx="548640" cy="621792"/>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T1</a:t>
            </a:r>
            <a:endParaRPr lang="en-US" sz="1600" dirty="0"/>
          </a:p>
        </p:txBody>
      </p:sp>
      <p:sp>
        <p:nvSpPr>
          <p:cNvPr id="6" name="Text 3"/>
          <p:cNvSpPr txBox="1"/>
          <p:nvPr/>
        </p:nvSpPr>
        <p:spPr>
          <a:xfrm>
            <a:off x="7680960" y="1371600"/>
            <a:ext cx="3840480" cy="62179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Pipeline trace, ADD / LDI / XOR, JMP loop</a:t>
            </a:r>
            <a:endParaRPr lang="en-US" sz="1400" dirty="0"/>
          </a:p>
        </p:txBody>
      </p:sp>
      <p:sp>
        <p:nvSpPr>
          <p:cNvPr id="7" name="Shape 4"/>
          <p:cNvSpPr/>
          <p:nvPr/>
        </p:nvSpPr>
        <p:spPr>
          <a:xfrm>
            <a:off x="6949440" y="2121408"/>
            <a:ext cx="4663440" cy="621792"/>
          </a:xfrm>
          <a:prstGeom prst="roundRect">
            <a:avLst>
              <a:gd name="adj" fmla="val 17647"/>
            </a:avLst>
          </a:prstGeom>
          <a:solidFill>
            <a:schemeClr val="bg2"/>
          </a:solidFill>
          <a:ln w="12700">
            <a:solidFill>
              <a:schemeClr val="bg2"/>
            </a:solidFill>
            <a:prstDash val="solid"/>
          </a:ln>
        </p:spPr>
        <p:txBody>
          <a:bodyPr/>
          <a:lstStyle/>
          <a:p>
            <a:endParaRPr lang="vi-VN"/>
          </a:p>
        </p:txBody>
      </p:sp>
      <p:sp>
        <p:nvSpPr>
          <p:cNvPr id="8" name="Text 5"/>
          <p:cNvSpPr txBox="1"/>
          <p:nvPr/>
        </p:nvSpPr>
        <p:spPr>
          <a:xfrm>
            <a:off x="7086600" y="2121408"/>
            <a:ext cx="548640" cy="621792"/>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T2</a:t>
            </a:r>
            <a:endParaRPr lang="en-US" sz="1600" dirty="0"/>
          </a:p>
        </p:txBody>
      </p:sp>
      <p:sp>
        <p:nvSpPr>
          <p:cNvPr id="9" name="Text 6"/>
          <p:cNvSpPr txBox="1"/>
          <p:nvPr/>
        </p:nvSpPr>
        <p:spPr>
          <a:xfrm>
            <a:off x="7680960" y="2121408"/>
            <a:ext cx="3840480" cy="62179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ADD, SUB, STORE, LOAD, Zero and Carry</a:t>
            </a:r>
            <a:endParaRPr lang="en-US" sz="1400" dirty="0"/>
          </a:p>
        </p:txBody>
      </p:sp>
      <p:sp>
        <p:nvSpPr>
          <p:cNvPr id="10" name="Shape 7"/>
          <p:cNvSpPr/>
          <p:nvPr/>
        </p:nvSpPr>
        <p:spPr>
          <a:xfrm>
            <a:off x="6949440" y="2871216"/>
            <a:ext cx="4663440" cy="621792"/>
          </a:xfrm>
          <a:prstGeom prst="roundRect">
            <a:avLst>
              <a:gd name="adj" fmla="val 17647"/>
            </a:avLst>
          </a:prstGeom>
          <a:solidFill>
            <a:schemeClr val="bg2"/>
          </a:solidFill>
          <a:ln w="12700">
            <a:solidFill>
              <a:schemeClr val="bg2"/>
            </a:solidFill>
            <a:prstDash val="solid"/>
          </a:ln>
        </p:spPr>
        <p:txBody>
          <a:bodyPr/>
          <a:lstStyle/>
          <a:p>
            <a:endParaRPr lang="vi-VN"/>
          </a:p>
        </p:txBody>
      </p:sp>
      <p:sp>
        <p:nvSpPr>
          <p:cNvPr id="11" name="Text 8"/>
          <p:cNvSpPr txBox="1"/>
          <p:nvPr/>
        </p:nvSpPr>
        <p:spPr>
          <a:xfrm>
            <a:off x="7086600" y="2871216"/>
            <a:ext cx="548640" cy="621792"/>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T3</a:t>
            </a:r>
            <a:endParaRPr lang="en-US" sz="1600" dirty="0"/>
          </a:p>
        </p:txBody>
      </p:sp>
      <p:sp>
        <p:nvSpPr>
          <p:cNvPr id="12" name="Text 9"/>
          <p:cNvSpPr txBox="1"/>
          <p:nvPr/>
        </p:nvSpPr>
        <p:spPr>
          <a:xfrm>
            <a:off x="7680960" y="2871216"/>
            <a:ext cx="3840480" cy="62179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AND, OR, XOR, NOT, MOV, LDI</a:t>
            </a:r>
            <a:endParaRPr lang="en-US" sz="1400" dirty="0"/>
          </a:p>
        </p:txBody>
      </p:sp>
      <p:sp>
        <p:nvSpPr>
          <p:cNvPr id="13" name="Shape 10"/>
          <p:cNvSpPr/>
          <p:nvPr/>
        </p:nvSpPr>
        <p:spPr>
          <a:xfrm>
            <a:off x="6949440" y="3621024"/>
            <a:ext cx="4663440" cy="621792"/>
          </a:xfrm>
          <a:prstGeom prst="roundRect">
            <a:avLst>
              <a:gd name="adj" fmla="val 17647"/>
            </a:avLst>
          </a:prstGeom>
          <a:solidFill>
            <a:schemeClr val="bg2"/>
          </a:solidFill>
          <a:ln w="12700">
            <a:solidFill>
              <a:schemeClr val="bg2"/>
            </a:solidFill>
            <a:prstDash val="solid"/>
          </a:ln>
        </p:spPr>
        <p:txBody>
          <a:bodyPr/>
          <a:lstStyle/>
          <a:p>
            <a:endParaRPr lang="vi-VN"/>
          </a:p>
        </p:txBody>
      </p:sp>
      <p:sp>
        <p:nvSpPr>
          <p:cNvPr id="14" name="Text 11"/>
          <p:cNvSpPr txBox="1"/>
          <p:nvPr/>
        </p:nvSpPr>
        <p:spPr>
          <a:xfrm>
            <a:off x="7086600" y="3621024"/>
            <a:ext cx="548640" cy="621792"/>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T4</a:t>
            </a:r>
            <a:endParaRPr lang="en-US" sz="1600" dirty="0"/>
          </a:p>
        </p:txBody>
      </p:sp>
      <p:sp>
        <p:nvSpPr>
          <p:cNvPr id="15" name="Text 12"/>
          <p:cNvSpPr txBox="1"/>
          <p:nvPr/>
        </p:nvSpPr>
        <p:spPr>
          <a:xfrm>
            <a:off x="7680960" y="3621024"/>
            <a:ext cx="3840480" cy="62179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JMP, JZ taken and not taken, flush</a:t>
            </a:r>
            <a:endParaRPr lang="en-US" sz="1400" dirty="0"/>
          </a:p>
        </p:txBody>
      </p:sp>
      <p:sp>
        <p:nvSpPr>
          <p:cNvPr id="16" name="Shape 13"/>
          <p:cNvSpPr/>
          <p:nvPr/>
        </p:nvSpPr>
        <p:spPr>
          <a:xfrm>
            <a:off x="6949440" y="4370832"/>
            <a:ext cx="4663440" cy="621792"/>
          </a:xfrm>
          <a:prstGeom prst="roundRect">
            <a:avLst>
              <a:gd name="adj" fmla="val 17647"/>
            </a:avLst>
          </a:prstGeom>
          <a:solidFill>
            <a:schemeClr val="bg2"/>
          </a:solidFill>
          <a:ln w="12700">
            <a:solidFill>
              <a:schemeClr val="bg2"/>
            </a:solidFill>
            <a:prstDash val="solid"/>
          </a:ln>
        </p:spPr>
        <p:txBody>
          <a:bodyPr/>
          <a:lstStyle/>
          <a:p>
            <a:endParaRPr lang="vi-VN"/>
          </a:p>
        </p:txBody>
      </p:sp>
      <p:sp>
        <p:nvSpPr>
          <p:cNvPr id="17" name="Text 14"/>
          <p:cNvSpPr txBox="1"/>
          <p:nvPr/>
        </p:nvSpPr>
        <p:spPr>
          <a:xfrm>
            <a:off x="7086600" y="4370832"/>
            <a:ext cx="548640" cy="621792"/>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T5</a:t>
            </a:r>
            <a:endParaRPr lang="en-US" sz="1600" dirty="0"/>
          </a:p>
        </p:txBody>
      </p:sp>
      <p:sp>
        <p:nvSpPr>
          <p:cNvPr id="18" name="Text 15"/>
          <p:cNvSpPr txBox="1"/>
          <p:nvPr/>
        </p:nvSpPr>
        <p:spPr>
          <a:xfrm>
            <a:off x="7680960" y="4370832"/>
            <a:ext cx="3840480" cy="621792"/>
          </a:xfrm>
          <a:prstGeom prst="rect">
            <a:avLst/>
          </a:prstGeom>
          <a:noFill/>
          <a:ln/>
        </p:spPr>
        <p:txBody>
          <a:bodyPr wrap="square" lIns="0" tIns="0" rIns="0" bIns="0" rtlCol="0" anchor="ctr"/>
          <a:lstStyle/>
          <a:p>
            <a:pPr marL="0" indent="0">
              <a:buNone/>
            </a:pPr>
            <a:r>
              <a:rPr lang="en-US" sz="1400" dirty="0">
                <a:solidFill>
                  <a:schemeClr val="tx1"/>
                </a:solidFill>
                <a:latin typeface="Calibri" pitchFamily="34" charset="0"/>
                <a:ea typeface="Calibri" pitchFamily="34" charset="-122"/>
                <a:cs typeface="Calibri" pitchFamily="34" charset="-120"/>
              </a:rPr>
              <a:t>Reset of PC, registers, flags; no X</a:t>
            </a:r>
            <a:endParaRPr lang="en-US" sz="1400" dirty="0"/>
          </a:p>
        </p:txBody>
      </p:sp>
      <p:sp>
        <p:nvSpPr>
          <p:cNvPr id="19" name="Shape 16"/>
          <p:cNvSpPr/>
          <p:nvPr/>
        </p:nvSpPr>
        <p:spPr>
          <a:xfrm>
            <a:off x="6949440" y="5257800"/>
            <a:ext cx="777240" cy="777240"/>
          </a:xfrm>
          <a:prstGeom prst="ellipse">
            <a:avLst/>
          </a:prstGeom>
          <a:solidFill>
            <a:schemeClr val="accent3"/>
          </a:solidFill>
          <a:ln w="12700">
            <a:solidFill>
              <a:schemeClr val="accent3"/>
            </a:solidFill>
            <a:prstDash val="solid"/>
          </a:ln>
        </p:spPr>
        <p:txBody>
          <a:bodyPr/>
          <a:lstStyle/>
          <a:p>
            <a:endParaRPr lang="vi-VN"/>
          </a:p>
        </p:txBody>
      </p:sp>
      <p:pic>
        <p:nvPicPr>
          <p:cNvPr id="20" name="Image 0" descr="preencoded.png"/>
          <p:cNvPicPr>
            <a:picLocks noChangeAspect="1"/>
          </p:cNvPicPr>
          <p:nvPr/>
        </p:nvPicPr>
        <p:blipFill>
          <a:blip r:embed="rId4"/>
          <a:stretch>
            <a:fillRect/>
          </a:stretch>
        </p:blipFill>
        <p:spPr>
          <a:xfrm>
            <a:off x="7143750" y="5452110"/>
            <a:ext cx="388620" cy="388620"/>
          </a:xfrm>
          <a:prstGeom prst="rect">
            <a:avLst/>
          </a:prstGeom>
        </p:spPr>
      </p:pic>
      <p:sp>
        <p:nvSpPr>
          <p:cNvPr id="21" name="Text 17"/>
          <p:cNvSpPr txBox="1"/>
          <p:nvPr/>
        </p:nvSpPr>
        <p:spPr>
          <a:xfrm>
            <a:off x="7863840" y="5257800"/>
            <a:ext cx="3749040" cy="77724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All 12 instructions verified</a:t>
            </a:r>
            <a:endParaRPr lang="en-US" sz="1400" dirty="0"/>
          </a:p>
          <a:p>
            <a:pPr marL="0" indent="0">
              <a:buNone/>
            </a:pPr>
            <a:r>
              <a:rPr lang="en-US" sz="1400" dirty="0">
                <a:solidFill>
                  <a:schemeClr val="tx2"/>
                </a:solidFill>
                <a:latin typeface="Calibri" pitchFamily="34" charset="0"/>
                <a:ea typeface="Calibri" pitchFamily="34" charset="-122"/>
                <a:cs typeface="Calibri" pitchFamily="34" charset="-120"/>
              </a:rPr>
              <a:t>Self-checking testbench, 4 programs + reset</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Pipelining finishes one instruction every clock</a:t>
            </a:r>
            <a:endParaRPr lang="en-US" sz="3600" dirty="0"/>
          </a:p>
        </p:txBody>
      </p:sp>
      <p:graphicFrame>
        <p:nvGraphicFramePr>
          <p:cNvPr id="3" name="Chart 0"/>
          <p:cNvGraphicFramePr/>
          <p:nvPr/>
        </p:nvGraphicFramePr>
        <p:xfrm>
          <a:off x="548640" y="1325880"/>
          <a:ext cx="6766560" cy="484632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7680960" y="1371600"/>
            <a:ext cx="3931920" cy="1417320"/>
          </a:xfrm>
          <a:prstGeom prst="roundRect">
            <a:avLst>
              <a:gd name="adj" fmla="val 7742"/>
            </a:avLst>
          </a:prstGeom>
          <a:solidFill>
            <a:schemeClr val="bg2"/>
          </a:solidFill>
          <a:ln w="12700">
            <a:solidFill>
              <a:schemeClr val="bg2"/>
            </a:solidFill>
            <a:prstDash val="solid"/>
          </a:ln>
        </p:spPr>
        <p:txBody>
          <a:bodyPr/>
          <a:lstStyle/>
          <a:p>
            <a:endParaRPr lang="vi-VN"/>
          </a:p>
        </p:txBody>
      </p:sp>
      <p:sp>
        <p:nvSpPr>
          <p:cNvPr id="5" name="Text 2"/>
          <p:cNvSpPr txBox="1"/>
          <p:nvPr/>
        </p:nvSpPr>
        <p:spPr>
          <a:xfrm>
            <a:off x="7909560" y="1536192"/>
            <a:ext cx="3566160" cy="68580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CPI = 1</a:t>
            </a:r>
            <a:endParaRPr lang="en-US" sz="3600" dirty="0"/>
          </a:p>
        </p:txBody>
      </p:sp>
      <p:sp>
        <p:nvSpPr>
          <p:cNvPr id="6" name="Text 3"/>
          <p:cNvSpPr txBox="1"/>
          <p:nvPr/>
        </p:nvSpPr>
        <p:spPr>
          <a:xfrm>
            <a:off x="7909560" y="2240280"/>
            <a:ext cx="3566160" cy="4114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after a 2-cycle pipeline fill</a:t>
            </a:r>
            <a:endParaRPr lang="en-US" sz="1400" dirty="0"/>
          </a:p>
        </p:txBody>
      </p:sp>
      <p:sp>
        <p:nvSpPr>
          <p:cNvPr id="7" name="Shape 4"/>
          <p:cNvSpPr/>
          <p:nvPr/>
        </p:nvSpPr>
        <p:spPr>
          <a:xfrm>
            <a:off x="7680960" y="2971800"/>
            <a:ext cx="3931920" cy="1417320"/>
          </a:xfrm>
          <a:prstGeom prst="roundRect">
            <a:avLst>
              <a:gd name="adj" fmla="val 7742"/>
            </a:avLst>
          </a:prstGeom>
          <a:solidFill>
            <a:schemeClr val="bg2"/>
          </a:solidFill>
          <a:ln w="12700">
            <a:solidFill>
              <a:schemeClr val="bg2"/>
            </a:solidFill>
            <a:prstDash val="solid"/>
          </a:ln>
        </p:spPr>
        <p:txBody>
          <a:bodyPr/>
          <a:lstStyle/>
          <a:p>
            <a:endParaRPr lang="vi-VN"/>
          </a:p>
        </p:txBody>
      </p:sp>
      <p:sp>
        <p:nvSpPr>
          <p:cNvPr id="8" name="Text 5"/>
          <p:cNvSpPr txBox="1"/>
          <p:nvPr/>
        </p:nvSpPr>
        <p:spPr>
          <a:xfrm>
            <a:off x="7909560" y="3136392"/>
            <a:ext cx="3566160" cy="68580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1.4× – 1.7×</a:t>
            </a:r>
            <a:endParaRPr lang="en-US" sz="3600" dirty="0"/>
          </a:p>
        </p:txBody>
      </p:sp>
      <p:sp>
        <p:nvSpPr>
          <p:cNvPr id="9" name="Text 6"/>
          <p:cNvSpPr txBox="1"/>
          <p:nvPr/>
        </p:nvSpPr>
        <p:spPr>
          <a:xfrm>
            <a:off x="7909560" y="3840480"/>
            <a:ext cx="3566160" cy="4114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faster than the 2-cycle design</a:t>
            </a:r>
            <a:endParaRPr lang="en-US" sz="1400" dirty="0"/>
          </a:p>
        </p:txBody>
      </p:sp>
      <p:sp>
        <p:nvSpPr>
          <p:cNvPr id="10" name="Shape 7"/>
          <p:cNvSpPr/>
          <p:nvPr/>
        </p:nvSpPr>
        <p:spPr>
          <a:xfrm>
            <a:off x="7680960" y="4572000"/>
            <a:ext cx="3931920" cy="1417320"/>
          </a:xfrm>
          <a:prstGeom prst="roundRect">
            <a:avLst>
              <a:gd name="adj" fmla="val 7742"/>
            </a:avLst>
          </a:prstGeom>
          <a:solidFill>
            <a:schemeClr val="bg2"/>
          </a:solidFill>
          <a:ln w="12700">
            <a:solidFill>
              <a:schemeClr val="bg2"/>
            </a:solidFill>
            <a:prstDash val="solid"/>
          </a:ln>
        </p:spPr>
        <p:txBody>
          <a:bodyPr/>
          <a:lstStyle/>
          <a:p>
            <a:endParaRPr lang="vi-VN"/>
          </a:p>
        </p:txBody>
      </p:sp>
      <p:sp>
        <p:nvSpPr>
          <p:cNvPr id="11" name="Text 8"/>
          <p:cNvSpPr txBox="1"/>
          <p:nvPr/>
        </p:nvSpPr>
        <p:spPr>
          <a:xfrm>
            <a:off x="7909560" y="4736592"/>
            <a:ext cx="3566160" cy="685800"/>
          </a:xfrm>
          <a:prstGeom prst="rect">
            <a:avLst/>
          </a:prstGeom>
          <a:noFill/>
          <a:ln/>
        </p:spPr>
        <p:txBody>
          <a:bodyPr wrap="square" lIns="0" tIns="0" rIns="0" bIns="0" rtlCol="0" anchor="t"/>
          <a:lstStyle/>
          <a:p>
            <a:pPr marL="0" indent="0">
              <a:buNone/>
            </a:pPr>
            <a:r>
              <a:rPr lang="en-US" sz="3600" b="1" dirty="0">
                <a:solidFill>
                  <a:schemeClr val="accent1"/>
                </a:solidFill>
                <a:latin typeface="Arial" pitchFamily="34" charset="0"/>
                <a:ea typeface="Arial" pitchFamily="34" charset="-122"/>
                <a:cs typeface="Arial" pitchFamily="34" charset="-120"/>
              </a:rPr>
              <a:t>N + 2</a:t>
            </a:r>
            <a:endParaRPr lang="en-US" sz="3600" dirty="0"/>
          </a:p>
        </p:txBody>
      </p:sp>
      <p:sp>
        <p:nvSpPr>
          <p:cNvPr id="12" name="Text 9"/>
          <p:cNvSpPr txBox="1"/>
          <p:nvPr/>
        </p:nvSpPr>
        <p:spPr>
          <a:xfrm>
            <a:off x="7909560" y="5440680"/>
            <a:ext cx="3566160" cy="4114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cycles for N jump-free instructions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lIns="0" tIns="0" rIns="0" bIns="0" rtlCol="0" anchor="ctr"/>
          <a:lstStyle/>
          <a:p>
            <a:pPr marL="0" indent="0" algn="l">
              <a:buNone/>
            </a:pPr>
            <a:r>
              <a:rPr lang="en-US" sz="3600" b="1" dirty="0">
                <a:solidFill>
                  <a:schemeClr val="tx2"/>
                </a:solidFill>
              </a:rPr>
              <a:t>The CPU uses under 0.2 % of the Artix-7 logic</a:t>
            </a:r>
            <a:endParaRPr lang="en-US" sz="3600" dirty="0"/>
          </a:p>
        </p:txBody>
      </p:sp>
      <p:sp>
        <p:nvSpPr>
          <p:cNvPr id="3" name="Shape 1"/>
          <p:cNvSpPr/>
          <p:nvPr/>
        </p:nvSpPr>
        <p:spPr>
          <a:xfrm>
            <a:off x="548640" y="1325880"/>
            <a:ext cx="2606040" cy="1463040"/>
          </a:xfrm>
          <a:prstGeom prst="roundRect">
            <a:avLst>
              <a:gd name="adj" fmla="val 7500"/>
            </a:avLst>
          </a:prstGeom>
          <a:solidFill>
            <a:schemeClr val="bg2"/>
          </a:solidFill>
          <a:ln w="12700">
            <a:solidFill>
              <a:schemeClr val="bg2"/>
            </a:solidFill>
            <a:prstDash val="solid"/>
          </a:ln>
        </p:spPr>
        <p:txBody>
          <a:bodyPr/>
          <a:lstStyle/>
          <a:p>
            <a:endParaRPr lang="vi-VN"/>
          </a:p>
        </p:txBody>
      </p:sp>
      <p:sp>
        <p:nvSpPr>
          <p:cNvPr id="4" name="Text 2"/>
          <p:cNvSpPr txBox="1"/>
          <p:nvPr/>
        </p:nvSpPr>
        <p:spPr>
          <a:xfrm>
            <a:off x="777240" y="1417320"/>
            <a:ext cx="1188720"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41</a:t>
            </a:r>
            <a:endParaRPr lang="en-US" sz="4000" dirty="0"/>
          </a:p>
        </p:txBody>
      </p:sp>
      <p:sp>
        <p:nvSpPr>
          <p:cNvPr id="5" name="Text 3"/>
          <p:cNvSpPr txBox="1"/>
          <p:nvPr/>
        </p:nvSpPr>
        <p:spPr>
          <a:xfrm>
            <a:off x="1920240" y="1481328"/>
            <a:ext cx="1188720" cy="6858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Slice LUTs</a:t>
            </a:r>
            <a:endParaRPr lang="en-US" sz="1400" dirty="0"/>
          </a:p>
        </p:txBody>
      </p:sp>
      <p:sp>
        <p:nvSpPr>
          <p:cNvPr id="6" name="Text 4"/>
          <p:cNvSpPr txBox="1"/>
          <p:nvPr/>
        </p:nvSpPr>
        <p:spPr>
          <a:xfrm>
            <a:off x="777240" y="2286000"/>
            <a:ext cx="2286000" cy="365760"/>
          </a:xfrm>
          <a:prstGeom prst="rect">
            <a:avLst/>
          </a:prstGeom>
          <a:noFill/>
          <a:ln/>
        </p:spPr>
        <p:txBody>
          <a:bodyPr wrap="square" lIns="0" tIns="0" rIns="0" bIns="0" rtlCol="0" anchor="t"/>
          <a:lstStyle/>
          <a:p>
            <a:pPr marL="0" indent="0">
              <a:buNone/>
            </a:pPr>
            <a:r>
              <a:rPr lang="en-US" sz="1200" dirty="0">
                <a:solidFill>
                  <a:schemeClr val="accent6"/>
                </a:solidFill>
                <a:latin typeface="Calibri" pitchFamily="34" charset="0"/>
                <a:ea typeface="Calibri" pitchFamily="34" charset="-122"/>
                <a:cs typeface="Calibri" pitchFamily="34" charset="-120"/>
              </a:rPr>
              <a:t>0.20 % of 20,800</a:t>
            </a:r>
            <a:endParaRPr lang="en-US" sz="1200" dirty="0"/>
          </a:p>
        </p:txBody>
      </p:sp>
      <p:sp>
        <p:nvSpPr>
          <p:cNvPr id="7" name="Shape 5"/>
          <p:cNvSpPr/>
          <p:nvPr/>
        </p:nvSpPr>
        <p:spPr>
          <a:xfrm>
            <a:off x="3364992" y="1325880"/>
            <a:ext cx="2606040" cy="1463040"/>
          </a:xfrm>
          <a:prstGeom prst="roundRect">
            <a:avLst>
              <a:gd name="adj" fmla="val 7500"/>
            </a:avLst>
          </a:prstGeom>
          <a:solidFill>
            <a:schemeClr val="bg2"/>
          </a:solidFill>
          <a:ln w="12700">
            <a:solidFill>
              <a:schemeClr val="bg2"/>
            </a:solidFill>
            <a:prstDash val="solid"/>
          </a:ln>
        </p:spPr>
        <p:txBody>
          <a:bodyPr/>
          <a:lstStyle/>
          <a:p>
            <a:endParaRPr lang="vi-VN"/>
          </a:p>
        </p:txBody>
      </p:sp>
      <p:sp>
        <p:nvSpPr>
          <p:cNvPr id="8" name="Text 6"/>
          <p:cNvSpPr txBox="1"/>
          <p:nvPr/>
        </p:nvSpPr>
        <p:spPr>
          <a:xfrm>
            <a:off x="3593592" y="1417320"/>
            <a:ext cx="1188720"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58</a:t>
            </a:r>
            <a:endParaRPr lang="en-US" sz="4000" dirty="0"/>
          </a:p>
        </p:txBody>
      </p:sp>
      <p:sp>
        <p:nvSpPr>
          <p:cNvPr id="9" name="Text 7"/>
          <p:cNvSpPr txBox="1"/>
          <p:nvPr/>
        </p:nvSpPr>
        <p:spPr>
          <a:xfrm>
            <a:off x="4736592" y="1481328"/>
            <a:ext cx="1188720" cy="6858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Flip-flops</a:t>
            </a:r>
            <a:endParaRPr lang="en-US" sz="1400" dirty="0"/>
          </a:p>
        </p:txBody>
      </p:sp>
      <p:sp>
        <p:nvSpPr>
          <p:cNvPr id="10" name="Text 8"/>
          <p:cNvSpPr txBox="1"/>
          <p:nvPr/>
        </p:nvSpPr>
        <p:spPr>
          <a:xfrm>
            <a:off x="3593592" y="2286000"/>
            <a:ext cx="2286000" cy="365760"/>
          </a:xfrm>
          <a:prstGeom prst="rect">
            <a:avLst/>
          </a:prstGeom>
          <a:noFill/>
          <a:ln/>
        </p:spPr>
        <p:txBody>
          <a:bodyPr wrap="square" lIns="0" tIns="0" rIns="0" bIns="0" rtlCol="0" anchor="t"/>
          <a:lstStyle/>
          <a:p>
            <a:pPr marL="0" indent="0">
              <a:buNone/>
            </a:pPr>
            <a:r>
              <a:rPr lang="en-US" sz="1200" dirty="0">
                <a:solidFill>
                  <a:schemeClr val="accent6"/>
                </a:solidFill>
                <a:latin typeface="Calibri" pitchFamily="34" charset="0"/>
                <a:ea typeface="Calibri" pitchFamily="34" charset="-122"/>
                <a:cs typeface="Calibri" pitchFamily="34" charset="-120"/>
              </a:rPr>
              <a:t>0.14 % of 41,600</a:t>
            </a:r>
            <a:endParaRPr lang="en-US" sz="1200" dirty="0"/>
          </a:p>
        </p:txBody>
      </p:sp>
      <p:sp>
        <p:nvSpPr>
          <p:cNvPr id="11" name="Shape 9"/>
          <p:cNvSpPr/>
          <p:nvPr/>
        </p:nvSpPr>
        <p:spPr>
          <a:xfrm>
            <a:off x="6181344" y="1325880"/>
            <a:ext cx="2606040" cy="1463040"/>
          </a:xfrm>
          <a:prstGeom prst="roundRect">
            <a:avLst>
              <a:gd name="adj" fmla="val 7500"/>
            </a:avLst>
          </a:prstGeom>
          <a:solidFill>
            <a:schemeClr val="bg2"/>
          </a:solidFill>
          <a:ln w="12700">
            <a:solidFill>
              <a:schemeClr val="bg2"/>
            </a:solidFill>
            <a:prstDash val="solid"/>
          </a:ln>
        </p:spPr>
        <p:txBody>
          <a:bodyPr/>
          <a:lstStyle/>
          <a:p>
            <a:endParaRPr lang="vi-VN"/>
          </a:p>
        </p:txBody>
      </p:sp>
      <p:sp>
        <p:nvSpPr>
          <p:cNvPr id="12" name="Text 10"/>
          <p:cNvSpPr txBox="1"/>
          <p:nvPr/>
        </p:nvSpPr>
        <p:spPr>
          <a:xfrm>
            <a:off x="6409944" y="1417320"/>
            <a:ext cx="1188720" cy="777240"/>
          </a:xfrm>
          <a:prstGeom prst="rect">
            <a:avLst/>
          </a:prstGeom>
          <a:noFill/>
          <a:ln/>
        </p:spPr>
        <p:txBody>
          <a:bodyPr wrap="square" lIns="0" tIns="0" rIns="0" bIns="0" rtlCol="0" anchor="ctr"/>
          <a:lstStyle/>
          <a:p>
            <a:pPr marL="0" indent="0">
              <a:buNone/>
            </a:pPr>
            <a:r>
              <a:rPr lang="en-US" sz="4000" b="1" dirty="0">
                <a:solidFill>
                  <a:schemeClr val="accent1"/>
                </a:solidFill>
                <a:latin typeface="Arial" pitchFamily="34" charset="0"/>
                <a:ea typeface="Arial" pitchFamily="34" charset="-122"/>
                <a:cs typeface="Arial" pitchFamily="34" charset="-120"/>
              </a:rPr>
              <a:t>14</a:t>
            </a:r>
            <a:endParaRPr lang="en-US" sz="4000" dirty="0"/>
          </a:p>
        </p:txBody>
      </p:sp>
      <p:sp>
        <p:nvSpPr>
          <p:cNvPr id="13" name="Text 11"/>
          <p:cNvSpPr txBox="1"/>
          <p:nvPr/>
        </p:nvSpPr>
        <p:spPr>
          <a:xfrm>
            <a:off x="7552944" y="1481328"/>
            <a:ext cx="1188720" cy="6858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Slices</a:t>
            </a:r>
            <a:endParaRPr lang="en-US" sz="1400" dirty="0"/>
          </a:p>
        </p:txBody>
      </p:sp>
      <p:sp>
        <p:nvSpPr>
          <p:cNvPr id="14" name="Text 12"/>
          <p:cNvSpPr txBox="1"/>
          <p:nvPr/>
        </p:nvSpPr>
        <p:spPr>
          <a:xfrm>
            <a:off x="6409944" y="2286000"/>
            <a:ext cx="2286000" cy="365760"/>
          </a:xfrm>
          <a:prstGeom prst="rect">
            <a:avLst/>
          </a:prstGeom>
          <a:noFill/>
          <a:ln/>
        </p:spPr>
        <p:txBody>
          <a:bodyPr wrap="square" lIns="0" tIns="0" rIns="0" bIns="0" rtlCol="0" anchor="t"/>
          <a:lstStyle/>
          <a:p>
            <a:pPr marL="0" indent="0">
              <a:buNone/>
            </a:pPr>
            <a:r>
              <a:rPr lang="en-US" sz="1200" dirty="0">
                <a:solidFill>
                  <a:schemeClr val="accent6"/>
                </a:solidFill>
                <a:latin typeface="Calibri" pitchFamily="34" charset="0"/>
                <a:ea typeface="Calibri" pitchFamily="34" charset="-122"/>
                <a:cs typeface="Calibri" pitchFamily="34" charset="-120"/>
              </a:rPr>
              <a:t>0.17 % of 8,150</a:t>
            </a:r>
            <a:endParaRPr lang="en-US" sz="1200" dirty="0"/>
          </a:p>
        </p:txBody>
      </p:sp>
      <p:sp>
        <p:nvSpPr>
          <p:cNvPr id="15" name="Shape 13"/>
          <p:cNvSpPr/>
          <p:nvPr/>
        </p:nvSpPr>
        <p:spPr>
          <a:xfrm>
            <a:off x="8997696" y="1325880"/>
            <a:ext cx="2606040" cy="1463040"/>
          </a:xfrm>
          <a:prstGeom prst="roundRect">
            <a:avLst>
              <a:gd name="adj" fmla="val 7500"/>
            </a:avLst>
          </a:prstGeom>
          <a:solidFill>
            <a:srgbClr val="FEEBC8"/>
          </a:solidFill>
          <a:ln w="12700">
            <a:solidFill>
              <a:srgbClr val="FEEBC8"/>
            </a:solidFill>
            <a:prstDash val="solid"/>
          </a:ln>
        </p:spPr>
        <p:txBody>
          <a:bodyPr/>
          <a:lstStyle/>
          <a:p>
            <a:endParaRPr lang="vi-VN"/>
          </a:p>
        </p:txBody>
      </p:sp>
      <p:sp>
        <p:nvSpPr>
          <p:cNvPr id="16" name="Text 14"/>
          <p:cNvSpPr txBox="1"/>
          <p:nvPr/>
        </p:nvSpPr>
        <p:spPr>
          <a:xfrm>
            <a:off x="9226296" y="1417320"/>
            <a:ext cx="1188720" cy="777240"/>
          </a:xfrm>
          <a:prstGeom prst="rect">
            <a:avLst/>
          </a:prstGeom>
          <a:noFill/>
          <a:ln/>
        </p:spPr>
        <p:txBody>
          <a:bodyPr wrap="square" lIns="0" tIns="0" rIns="0" bIns="0" rtlCol="0" anchor="ctr"/>
          <a:lstStyle/>
          <a:p>
            <a:pPr marL="0" indent="0">
              <a:buNone/>
            </a:pPr>
            <a:r>
              <a:rPr lang="en-US" sz="4000" b="1" dirty="0">
                <a:solidFill>
                  <a:schemeClr val="accent2"/>
                </a:solidFill>
                <a:latin typeface="Arial" pitchFamily="34" charset="0"/>
                <a:ea typeface="Arial" pitchFamily="34" charset="-122"/>
                <a:cs typeface="Arial" pitchFamily="34" charset="-120"/>
              </a:rPr>
              <a:t>28</a:t>
            </a:r>
            <a:endParaRPr lang="en-US" sz="4000" dirty="0"/>
          </a:p>
        </p:txBody>
      </p:sp>
      <p:sp>
        <p:nvSpPr>
          <p:cNvPr id="17" name="Text 15"/>
          <p:cNvSpPr txBox="1"/>
          <p:nvPr/>
        </p:nvSpPr>
        <p:spPr>
          <a:xfrm>
            <a:off x="10369296" y="1481328"/>
            <a:ext cx="1188720" cy="685800"/>
          </a:xfrm>
          <a:prstGeom prst="rect">
            <a:avLst/>
          </a:prstGeom>
          <a:noFill/>
          <a:ln/>
        </p:spPr>
        <p:txBody>
          <a:bodyPr wrap="square" lIns="0" tIns="0" rIns="0" bIns="0" rtlCol="0" anchor="ctr"/>
          <a:lstStyle/>
          <a:p>
            <a:pPr marL="0" indent="0">
              <a:buNone/>
            </a:pPr>
            <a:r>
              <a:rPr lang="en-US" sz="1400" b="1" dirty="0">
                <a:solidFill>
                  <a:schemeClr val="tx2"/>
                </a:solidFill>
                <a:latin typeface="Calibri" pitchFamily="34" charset="0"/>
                <a:ea typeface="Calibri" pitchFamily="34" charset="-122"/>
                <a:cs typeface="Calibri" pitchFamily="34" charset="-120"/>
              </a:rPr>
              <a:t>Bonded IOB</a:t>
            </a:r>
            <a:endParaRPr lang="en-US" sz="1400" dirty="0"/>
          </a:p>
        </p:txBody>
      </p:sp>
      <p:sp>
        <p:nvSpPr>
          <p:cNvPr id="18" name="Text 16"/>
          <p:cNvSpPr txBox="1"/>
          <p:nvPr/>
        </p:nvSpPr>
        <p:spPr>
          <a:xfrm>
            <a:off x="9226296" y="2286000"/>
            <a:ext cx="2286000" cy="365760"/>
          </a:xfrm>
          <a:prstGeom prst="rect">
            <a:avLst/>
          </a:prstGeom>
          <a:noFill/>
          <a:ln/>
        </p:spPr>
        <p:txBody>
          <a:bodyPr wrap="square" lIns="0" tIns="0" rIns="0" bIns="0" rtlCol="0" anchor="t"/>
          <a:lstStyle/>
          <a:p>
            <a:pPr marL="0" indent="0">
              <a:buNone/>
            </a:pPr>
            <a:r>
              <a:rPr lang="en-US" sz="1200" dirty="0">
                <a:solidFill>
                  <a:schemeClr val="accent6"/>
                </a:solidFill>
                <a:latin typeface="Calibri" pitchFamily="34" charset="0"/>
                <a:ea typeface="Calibri" pitchFamily="34" charset="-122"/>
                <a:cs typeface="Calibri" pitchFamily="34" charset="-120"/>
              </a:rPr>
              <a:t>26.4 % of 106</a:t>
            </a:r>
            <a:endParaRPr lang="en-US" sz="1200" dirty="0"/>
          </a:p>
        </p:txBody>
      </p:sp>
      <p:graphicFrame>
        <p:nvGraphicFramePr>
          <p:cNvPr id="19" name="Chart 0"/>
          <p:cNvGraphicFramePr/>
          <p:nvPr/>
        </p:nvGraphicFramePr>
        <p:xfrm>
          <a:off x="548640" y="3017520"/>
          <a:ext cx="630936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20" name="Shape 17"/>
          <p:cNvSpPr/>
          <p:nvPr/>
        </p:nvSpPr>
        <p:spPr>
          <a:xfrm>
            <a:off x="7178040" y="3017520"/>
            <a:ext cx="4434840" cy="3246120"/>
          </a:xfrm>
          <a:prstGeom prst="roundRect">
            <a:avLst>
              <a:gd name="adj" fmla="val 3380"/>
            </a:avLst>
          </a:prstGeom>
          <a:solidFill>
            <a:schemeClr val="bg2"/>
          </a:solidFill>
          <a:ln w="12700">
            <a:solidFill>
              <a:schemeClr val="bg2"/>
            </a:solidFill>
            <a:prstDash val="solid"/>
          </a:ln>
        </p:spPr>
        <p:txBody>
          <a:bodyPr/>
          <a:lstStyle/>
          <a:p>
            <a:endParaRPr lang="vi-VN"/>
          </a:p>
        </p:txBody>
      </p:sp>
      <p:sp>
        <p:nvSpPr>
          <p:cNvPr id="21" name="Shape 18"/>
          <p:cNvSpPr/>
          <p:nvPr/>
        </p:nvSpPr>
        <p:spPr>
          <a:xfrm>
            <a:off x="7360920" y="3182112"/>
            <a:ext cx="548640" cy="548640"/>
          </a:xfrm>
          <a:prstGeom prst="ellipse">
            <a:avLst/>
          </a:prstGeom>
          <a:solidFill>
            <a:schemeClr val="accent2"/>
          </a:solidFill>
          <a:ln w="12700">
            <a:solidFill>
              <a:schemeClr val="accent2"/>
            </a:solidFill>
            <a:prstDash val="solid"/>
          </a:ln>
        </p:spPr>
        <p:txBody>
          <a:bodyPr/>
          <a:lstStyle/>
          <a:p>
            <a:endParaRPr lang="vi-VN"/>
          </a:p>
        </p:txBody>
      </p:sp>
      <p:pic>
        <p:nvPicPr>
          <p:cNvPr id="22" name="Image 0" descr="preencoded.png"/>
          <p:cNvPicPr>
            <a:picLocks noChangeAspect="1"/>
          </p:cNvPicPr>
          <p:nvPr/>
        </p:nvPicPr>
        <p:blipFill>
          <a:blip r:embed="rId4"/>
          <a:stretch>
            <a:fillRect/>
          </a:stretch>
        </p:blipFill>
        <p:spPr>
          <a:xfrm>
            <a:off x="7498080" y="3319272"/>
            <a:ext cx="274320" cy="274320"/>
          </a:xfrm>
          <a:prstGeom prst="rect">
            <a:avLst/>
          </a:prstGeom>
        </p:spPr>
      </p:pic>
      <p:sp>
        <p:nvSpPr>
          <p:cNvPr id="23" name="Text 19"/>
          <p:cNvSpPr txBox="1"/>
          <p:nvPr/>
        </p:nvSpPr>
        <p:spPr>
          <a:xfrm>
            <a:off x="8046720" y="3182112"/>
            <a:ext cx="3474720" cy="548640"/>
          </a:xfrm>
          <a:prstGeom prst="rect">
            <a:avLst/>
          </a:prstGeom>
          <a:noFill/>
          <a:ln/>
        </p:spPr>
        <p:txBody>
          <a:bodyPr wrap="square" lIns="0" tIns="0" rIns="0" bIns="0" rtlCol="0" anchor="ctr"/>
          <a:lstStyle/>
          <a:p>
            <a:pPr marL="0" indent="0">
              <a:buNone/>
            </a:pPr>
            <a:r>
              <a:rPr lang="en-US" sz="1800" b="1" dirty="0">
                <a:solidFill>
                  <a:schemeClr val="tx2"/>
                </a:solidFill>
                <a:latin typeface="Calibri" pitchFamily="34" charset="0"/>
                <a:ea typeface="Calibri" pitchFamily="34" charset="-122"/>
                <a:cs typeface="Calibri" pitchFamily="34" charset="-120"/>
              </a:rPr>
              <a:t>Why so small?</a:t>
            </a:r>
            <a:endParaRPr lang="en-US" sz="1800" dirty="0"/>
          </a:p>
        </p:txBody>
      </p:sp>
      <p:sp>
        <p:nvSpPr>
          <p:cNvPr id="24" name="Text 20"/>
          <p:cNvSpPr txBox="1"/>
          <p:nvPr/>
        </p:nvSpPr>
        <p:spPr>
          <a:xfrm>
            <a:off x="7360920" y="3886200"/>
            <a:ext cx="411480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0 BRAM, 0 DSP: memories are tiny and a 4-bit adder fits in LUTs.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The program ROM is a constant, so Vivado folds it into logic and trims unused paths.</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I/O is high only because debug buses go to pins.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48640"/>
            <a:ext cx="10698480" cy="822960"/>
          </a:xfrm>
          <a:prstGeom prst="rect">
            <a:avLst/>
          </a:prstGeom>
          <a:noFill/>
          <a:ln/>
        </p:spPr>
        <p:txBody>
          <a:bodyPr wrap="square" lIns="0" tIns="0" rIns="0" bIns="0" rtlCol="0" anchor="ctr"/>
          <a:lstStyle/>
          <a:p>
            <a:pPr marL="0" indent="0">
              <a:buNone/>
            </a:pPr>
            <a:r>
              <a:rPr lang="en-US" sz="3600" b="1" dirty="0">
                <a:solidFill>
                  <a:schemeClr val="bg1"/>
                </a:solidFill>
                <a:latin typeface="Arial" pitchFamily="34" charset="0"/>
                <a:ea typeface="Arial" pitchFamily="34" charset="-122"/>
                <a:cs typeface="Arial" pitchFamily="34" charset="-120"/>
              </a:rPr>
              <a:t>Correct from RTL to simulation to hardware</a:t>
            </a:r>
            <a:endParaRPr lang="en-US" sz="3600" dirty="0"/>
          </a:p>
        </p:txBody>
      </p:sp>
      <p:sp>
        <p:nvSpPr>
          <p:cNvPr id="3" name="Shape 1"/>
          <p:cNvSpPr/>
          <p:nvPr/>
        </p:nvSpPr>
        <p:spPr>
          <a:xfrm>
            <a:off x="731520" y="1737360"/>
            <a:ext cx="822960" cy="822960"/>
          </a:xfrm>
          <a:prstGeom prst="ellipse">
            <a:avLst/>
          </a:prstGeom>
          <a:solidFill>
            <a:schemeClr val="accent1"/>
          </a:solidFill>
          <a:ln w="12700">
            <a:solidFill>
              <a:schemeClr val="accent1"/>
            </a:solidFill>
            <a:prstDash val="solid"/>
          </a:ln>
        </p:spPr>
        <p:txBody>
          <a:bodyPr/>
          <a:lstStyle/>
          <a:p>
            <a:endParaRPr lang="vi-VN"/>
          </a:p>
        </p:txBody>
      </p:sp>
      <p:pic>
        <p:nvPicPr>
          <p:cNvPr id="4" name="Image 0" descr="preencoded.png"/>
          <p:cNvPicPr>
            <a:picLocks noChangeAspect="1"/>
          </p:cNvPicPr>
          <p:nvPr/>
        </p:nvPicPr>
        <p:blipFill>
          <a:blip r:embed="rId3"/>
          <a:stretch>
            <a:fillRect/>
          </a:stretch>
        </p:blipFill>
        <p:spPr>
          <a:xfrm>
            <a:off x="937260" y="1943100"/>
            <a:ext cx="411480" cy="411480"/>
          </a:xfrm>
          <a:prstGeom prst="rect">
            <a:avLst/>
          </a:prstGeom>
        </p:spPr>
      </p:pic>
      <p:sp>
        <p:nvSpPr>
          <p:cNvPr id="5" name="Text 2"/>
          <p:cNvSpPr txBox="1"/>
          <p:nvPr/>
        </p:nvSpPr>
        <p:spPr>
          <a:xfrm>
            <a:off x="731520" y="2743200"/>
            <a:ext cx="3291840" cy="45720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RTL</a:t>
            </a:r>
            <a:endParaRPr lang="en-US" sz="2200" dirty="0"/>
          </a:p>
        </p:txBody>
      </p:sp>
      <p:sp>
        <p:nvSpPr>
          <p:cNvPr id="6" name="Text 3"/>
          <p:cNvSpPr txBox="1"/>
          <p:nvPr/>
        </p:nvSpPr>
        <p:spPr>
          <a:xfrm>
            <a:off x="731520" y="3383280"/>
            <a:ext cx="3291840" cy="914400"/>
          </a:xfrm>
          <a:prstGeom prst="rect">
            <a:avLst/>
          </a:prstGeom>
          <a:noFill/>
          <a:ln/>
        </p:spPr>
        <p:txBody>
          <a:bodyPr wrap="square" lIns="0" tIns="0" rIns="0" bIns="0"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Clean 3-stage datapath with latch-free hardwired control</a:t>
            </a:r>
            <a:endParaRPr lang="en-US" sz="1600" dirty="0"/>
          </a:p>
        </p:txBody>
      </p:sp>
      <p:sp>
        <p:nvSpPr>
          <p:cNvPr id="7" name="Shape 4"/>
          <p:cNvSpPr/>
          <p:nvPr/>
        </p:nvSpPr>
        <p:spPr>
          <a:xfrm>
            <a:off x="4389120" y="1737360"/>
            <a:ext cx="822960" cy="822960"/>
          </a:xfrm>
          <a:prstGeom prst="ellipse">
            <a:avLst/>
          </a:prstGeom>
          <a:solidFill>
            <a:schemeClr val="accent3"/>
          </a:solidFill>
          <a:ln w="12700">
            <a:solidFill>
              <a:schemeClr val="accent3"/>
            </a:solidFill>
            <a:prstDash val="solid"/>
          </a:ln>
        </p:spPr>
        <p:txBody>
          <a:bodyPr/>
          <a:lstStyle/>
          <a:p>
            <a:endParaRPr lang="vi-VN"/>
          </a:p>
        </p:txBody>
      </p:sp>
      <p:pic>
        <p:nvPicPr>
          <p:cNvPr id="8" name="Image 1" descr="preencoded.png"/>
          <p:cNvPicPr>
            <a:picLocks noChangeAspect="1"/>
          </p:cNvPicPr>
          <p:nvPr/>
        </p:nvPicPr>
        <p:blipFill>
          <a:blip r:embed="rId4"/>
          <a:stretch>
            <a:fillRect/>
          </a:stretch>
        </p:blipFill>
        <p:spPr>
          <a:xfrm>
            <a:off x="4594860" y="1943100"/>
            <a:ext cx="411480" cy="411480"/>
          </a:xfrm>
          <a:prstGeom prst="rect">
            <a:avLst/>
          </a:prstGeom>
        </p:spPr>
      </p:pic>
      <p:sp>
        <p:nvSpPr>
          <p:cNvPr id="9" name="Text 5"/>
          <p:cNvSpPr txBox="1"/>
          <p:nvPr/>
        </p:nvSpPr>
        <p:spPr>
          <a:xfrm>
            <a:off x="4389120" y="2743200"/>
            <a:ext cx="3291840" cy="45720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Simulation</a:t>
            </a:r>
            <a:endParaRPr lang="en-US" sz="2200" dirty="0"/>
          </a:p>
        </p:txBody>
      </p:sp>
      <p:sp>
        <p:nvSpPr>
          <p:cNvPr id="10" name="Text 6"/>
          <p:cNvSpPr txBox="1"/>
          <p:nvPr/>
        </p:nvSpPr>
        <p:spPr>
          <a:xfrm>
            <a:off x="4389120" y="3383280"/>
            <a:ext cx="3291840" cy="914400"/>
          </a:xfrm>
          <a:prstGeom prst="rect">
            <a:avLst/>
          </a:prstGeom>
          <a:noFill/>
          <a:ln/>
        </p:spPr>
        <p:txBody>
          <a:bodyPr wrap="square" lIns="0" tIns="0" rIns="0" bIns="0"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44 / 44 checks, 0 errors, CPI = 1, 2-cycle jump penalty</a:t>
            </a:r>
            <a:endParaRPr lang="en-US" sz="1600" dirty="0"/>
          </a:p>
        </p:txBody>
      </p:sp>
      <p:sp>
        <p:nvSpPr>
          <p:cNvPr id="11" name="Shape 7"/>
          <p:cNvSpPr/>
          <p:nvPr/>
        </p:nvSpPr>
        <p:spPr>
          <a:xfrm>
            <a:off x="8046720" y="1737360"/>
            <a:ext cx="822960" cy="822960"/>
          </a:xfrm>
          <a:prstGeom prst="ellipse">
            <a:avLst/>
          </a:prstGeom>
          <a:solidFill>
            <a:schemeClr val="accent2"/>
          </a:solidFill>
          <a:ln w="12700">
            <a:solidFill>
              <a:schemeClr val="accent2"/>
            </a:solidFill>
            <a:prstDash val="solid"/>
          </a:ln>
        </p:spPr>
        <p:txBody>
          <a:bodyPr/>
          <a:lstStyle/>
          <a:p>
            <a:endParaRPr lang="vi-VN"/>
          </a:p>
        </p:txBody>
      </p:sp>
      <p:pic>
        <p:nvPicPr>
          <p:cNvPr id="12" name="Image 2" descr="preencoded.png"/>
          <p:cNvPicPr>
            <a:picLocks noChangeAspect="1"/>
          </p:cNvPicPr>
          <p:nvPr/>
        </p:nvPicPr>
        <p:blipFill>
          <a:blip r:embed="rId5"/>
          <a:stretch>
            <a:fillRect/>
          </a:stretch>
        </p:blipFill>
        <p:spPr>
          <a:xfrm>
            <a:off x="8252460" y="1943100"/>
            <a:ext cx="411480" cy="411480"/>
          </a:xfrm>
          <a:prstGeom prst="rect">
            <a:avLst/>
          </a:prstGeom>
        </p:spPr>
      </p:pic>
      <p:sp>
        <p:nvSpPr>
          <p:cNvPr id="13" name="Text 8"/>
          <p:cNvSpPr txBox="1"/>
          <p:nvPr/>
        </p:nvSpPr>
        <p:spPr>
          <a:xfrm>
            <a:off x="8046720" y="2743200"/>
            <a:ext cx="3291840" cy="457200"/>
          </a:xfrm>
          <a:prstGeom prst="rect">
            <a:avLst/>
          </a:prstGeom>
          <a:noFill/>
          <a:ln/>
        </p:spPr>
        <p:txBody>
          <a:bodyPr wrap="square" lIns="0" tIns="0" rIns="0" bIns="0" rtlCol="0" anchor="t"/>
          <a:lstStyle/>
          <a:p>
            <a:pPr marL="0" indent="0">
              <a:buNone/>
            </a:pPr>
            <a:r>
              <a:rPr lang="en-US" sz="2200" b="1" dirty="0">
                <a:solidFill>
                  <a:schemeClr val="bg1"/>
                </a:solidFill>
                <a:latin typeface="Calibri" pitchFamily="34" charset="0"/>
                <a:ea typeface="Calibri" pitchFamily="34" charset="-122"/>
                <a:cs typeface="Calibri" pitchFamily="34" charset="-120"/>
              </a:rPr>
              <a:t>Utilization</a:t>
            </a:r>
            <a:endParaRPr lang="en-US" sz="2200" dirty="0"/>
          </a:p>
        </p:txBody>
      </p:sp>
      <p:sp>
        <p:nvSpPr>
          <p:cNvPr id="14" name="Text 9"/>
          <p:cNvSpPr txBox="1"/>
          <p:nvPr/>
        </p:nvSpPr>
        <p:spPr>
          <a:xfrm>
            <a:off x="8046720" y="3376654"/>
            <a:ext cx="3291840" cy="914400"/>
          </a:xfrm>
          <a:prstGeom prst="rect">
            <a:avLst/>
          </a:prstGeom>
          <a:noFill/>
          <a:ln/>
        </p:spPr>
        <p:txBody>
          <a:bodyPr wrap="square" lIns="0" tIns="0" rIns="0" bIns="0" rtlCol="0" anchor="t"/>
          <a:lstStyle/>
          <a:p>
            <a:pPr marL="0" indent="0">
              <a:buNone/>
            </a:pPr>
            <a:r>
              <a:rPr lang="en-US" sz="1600" dirty="0">
                <a:solidFill>
                  <a:schemeClr val="accent5"/>
                </a:solidFill>
                <a:latin typeface="Calibri" pitchFamily="34" charset="0"/>
                <a:ea typeface="Calibri" pitchFamily="34" charset="-122"/>
                <a:cs typeface="Calibri" pitchFamily="34" charset="-120"/>
              </a:rPr>
              <a:t>41 LUTs, 58 FFs, 14 slices, no BRAM or DSP</a:t>
            </a:r>
            <a:endParaRPr lang="en-US" sz="1600" dirty="0"/>
          </a:p>
        </p:txBody>
      </p:sp>
      <p:sp>
        <p:nvSpPr>
          <p:cNvPr id="16" name="Text 11"/>
          <p:cNvSpPr txBox="1"/>
          <p:nvPr/>
        </p:nvSpPr>
        <p:spPr>
          <a:xfrm>
            <a:off x="731520" y="5394960"/>
            <a:ext cx="10698480" cy="731520"/>
          </a:xfrm>
          <a:prstGeom prst="rect">
            <a:avLst/>
          </a:prstGeom>
          <a:noFill/>
          <a:ln/>
        </p:spPr>
        <p:txBody>
          <a:bodyPr wrap="square" lIns="0" tIns="0" rIns="0" bIns="0" rtlCol="0" anchor="t"/>
          <a:lstStyle/>
          <a:p>
            <a:pPr marL="0" indent="0">
              <a:buNone/>
            </a:pPr>
            <a:r>
              <a:rPr lang="en-US" sz="3200" b="1" dirty="0">
                <a:solidFill>
                  <a:schemeClr val="bg1"/>
                </a:solidFill>
                <a:latin typeface="Arial" pitchFamily="34" charset="0"/>
                <a:ea typeface="Arial" pitchFamily="34" charset="-122"/>
                <a:cs typeface="Arial" pitchFamily="34" charset="-120"/>
              </a:rPr>
              <a:t>Thank you  ·  Questions?</a:t>
            </a:r>
            <a:endParaRPr lang="en-US" sz="3200" dirty="0"/>
          </a:p>
        </p:txBody>
      </p:sp>
    </p:spTree>
  </p:cSld>
  <p:clrMapOvr>
    <a:masterClrMapping/>
  </p:clrMapOvr>
</p:sld>
</file>

<file path=ppt/theme/theme1.xml><?xml version="1.0" encoding="utf-8"?>
<a:theme xmlns:a="http://schemas.openxmlformats.org/drawingml/2006/main" name="RISC CPU Navy">
  <a:themeElements>
    <a:clrScheme name="RISC CPU Navy">
      <a:dk1>
        <a:srgbClr val="1A202C"/>
      </a:dk1>
      <a:lt1>
        <a:srgbClr val="FFFFFF"/>
      </a:lt1>
      <a:dk2>
        <a:srgbClr val="1A365D"/>
      </a:dk2>
      <a:lt2>
        <a:srgbClr val="EDF2F7"/>
      </a:lt2>
      <a:accent1>
        <a:srgbClr val="2B6CB0"/>
      </a:accent1>
      <a:accent2>
        <a:srgbClr val="DD6B20"/>
      </a:accent2>
      <a:accent3>
        <a:srgbClr val="2F855A"/>
      </a:accent3>
      <a:accent4>
        <a:srgbClr val="C53030"/>
      </a:accent4>
      <a:accent5>
        <a:srgbClr val="BEE3F8"/>
      </a:accent5>
      <a:accent6>
        <a:srgbClr val="718096"/>
      </a:accent6>
      <a:hlink>
        <a:srgbClr val="2B6CB0"/>
      </a:hlink>
      <a:folHlink>
        <a:srgbClr val="553C9A"/>
      </a:folHlink>
    </a:clrScheme>
    <a:fontScheme name="RISC CPU Nav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1610</Words>
  <Application>Microsoft Office PowerPoint</Application>
  <PresentationFormat>Widescreen</PresentationFormat>
  <Paragraphs>140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Courier New</vt:lpstr>
      <vt:lpstr>RISC CPU Navy</vt:lpstr>
      <vt:lpstr>4-Bit RISC CPU with a 3-Stage Pipeline</vt:lpstr>
      <vt:lpstr>A complete CPU, kept small enough to verify fully</vt:lpstr>
      <vt:lpstr>Two pipeline registers create three stages</vt:lpstr>
      <vt:lpstr>RTL schematic matches the planned datapath</vt:lpstr>
      <vt:lpstr>All three hazards handled by construction</vt:lpstr>
      <vt:lpstr>Waveform: 2-stage offset and clean flush</vt:lpstr>
      <vt:lpstr>44 of 44 self-checks passed with zero errors</vt:lpstr>
      <vt:lpstr>Pipelining finishes one instruction every clock</vt:lpstr>
      <vt:lpstr>The CPU uses under 0.2 % of the Artix-7 logic</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4-Bit RISC CPU with a 3-Stage Pipeline</dc:title>
  <dc:subject>PptxGenJS Presentation</dc:subject>
  <dc:creator>Tran Duy (SE193143)</dc:creator>
  <cp:lastModifiedBy>Duy Trần</cp:lastModifiedBy>
  <cp:revision>2</cp:revision>
  <dcterms:created xsi:type="dcterms:W3CDTF">2026-10-08T12:58:49Z</dcterms:created>
  <dcterms:modified xsi:type="dcterms:W3CDTF">2026-10-08T14:07:47Z</dcterms:modified>
</cp:coreProperties>
</file>